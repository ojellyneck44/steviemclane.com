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chivo Black" charset="1" panose="020B0A03020202020B04"/>
      <p:regular r:id="rId17"/>
    </p:embeddedFont>
    <p:embeddedFont>
      <p:font typeface="Garet Bold" charset="1" panose="00000000000000000000"/>
      <p:regular r:id="rId18"/>
    </p:embeddedFont>
    <p:embeddedFont>
      <p:font typeface="Garet"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59739" y="522508"/>
            <a:ext cx="7624621" cy="7624621"/>
          </a:xfrm>
          <a:custGeom>
            <a:avLst/>
            <a:gdLst/>
            <a:ahLst/>
            <a:cxnLst/>
            <a:rect r="r" b="b" t="t" l="l"/>
            <a:pathLst>
              <a:path h="7624621" w="7624621">
                <a:moveTo>
                  <a:pt x="0" y="0"/>
                </a:moveTo>
                <a:lnTo>
                  <a:pt x="7624621" y="0"/>
                </a:lnTo>
                <a:lnTo>
                  <a:pt x="7624621" y="7624621"/>
                </a:lnTo>
                <a:lnTo>
                  <a:pt x="0" y="7624621"/>
                </a:lnTo>
                <a:lnTo>
                  <a:pt x="0" y="0"/>
                </a:lnTo>
                <a:close/>
              </a:path>
            </a:pathLst>
          </a:custGeom>
          <a:blipFill>
            <a:blip r:embed="rId5"/>
            <a:stretch>
              <a:fillRect l="0" t="0" r="0" b="0"/>
            </a:stretch>
          </a:blipFill>
        </p:spPr>
      </p:sp>
      <p:sp>
        <p:nvSpPr>
          <p:cNvPr name="Freeform 5" id="5"/>
          <p:cNvSpPr/>
          <p:nvPr/>
        </p:nvSpPr>
        <p:spPr>
          <a:xfrm flipH="false" flipV="false" rot="0">
            <a:off x="9412743" y="0"/>
            <a:ext cx="9109330" cy="7036958"/>
          </a:xfrm>
          <a:custGeom>
            <a:avLst/>
            <a:gdLst/>
            <a:ahLst/>
            <a:cxnLst/>
            <a:rect r="r" b="b" t="t" l="l"/>
            <a:pathLst>
              <a:path h="7036958" w="9109330">
                <a:moveTo>
                  <a:pt x="0" y="0"/>
                </a:moveTo>
                <a:lnTo>
                  <a:pt x="9109330" y="0"/>
                </a:lnTo>
                <a:lnTo>
                  <a:pt x="9109330" y="7036958"/>
                </a:lnTo>
                <a:lnTo>
                  <a:pt x="0" y="7036958"/>
                </a:lnTo>
                <a:lnTo>
                  <a:pt x="0" y="0"/>
                </a:lnTo>
                <a:close/>
              </a:path>
            </a:pathLst>
          </a:custGeom>
          <a:blipFill>
            <a:blip r:embed="rId6"/>
            <a:stretch>
              <a:fillRect l="0" t="0" r="0" b="0"/>
            </a:stretch>
          </a:blipFill>
        </p:spPr>
      </p:sp>
      <p:sp>
        <p:nvSpPr>
          <p:cNvPr name="TextBox 6" id="6"/>
          <p:cNvSpPr txBox="true"/>
          <p:nvPr/>
        </p:nvSpPr>
        <p:spPr>
          <a:xfrm rot="0">
            <a:off x="7538189" y="5017299"/>
            <a:ext cx="9873511" cy="719648"/>
          </a:xfrm>
          <a:prstGeom prst="rect">
            <a:avLst/>
          </a:prstGeom>
        </p:spPr>
        <p:txBody>
          <a:bodyPr anchor="t" rtlCol="false" tIns="0" lIns="0" bIns="0" rIns="0">
            <a:spAutoFit/>
          </a:bodyPr>
          <a:lstStyle/>
          <a:p>
            <a:pPr algn="r">
              <a:lnSpc>
                <a:spcPts val="2748"/>
              </a:lnSpc>
            </a:pPr>
            <a:r>
              <a:rPr lang="en-US" sz="2748" spc="-217">
                <a:solidFill>
                  <a:srgbClr val="000000"/>
                </a:solidFill>
                <a:latin typeface="Archivo Black"/>
                <a:ea typeface="Archivo Black"/>
                <a:cs typeface="Archivo Black"/>
                <a:sym typeface="Archivo Black"/>
              </a:rPr>
              <a:t>Appointments that wait for you,</a:t>
            </a:r>
          </a:p>
          <a:p>
            <a:pPr algn="r" marL="0" indent="0" lvl="0">
              <a:lnSpc>
                <a:spcPts val="2748"/>
              </a:lnSpc>
              <a:spcBef>
                <a:spcPct val="0"/>
              </a:spcBef>
            </a:pPr>
            <a:r>
              <a:rPr lang="en-US" sz="2748" spc="-217">
                <a:solidFill>
                  <a:srgbClr val="000000"/>
                </a:solidFill>
                <a:latin typeface="Archivo Black"/>
                <a:ea typeface="Archivo Black"/>
                <a:cs typeface="Archivo Black"/>
                <a:sym typeface="Archivo Black"/>
              </a:rPr>
              <a:t>not the other way around</a:t>
            </a:r>
          </a:p>
        </p:txBody>
      </p:sp>
      <p:sp>
        <p:nvSpPr>
          <p:cNvPr name="TextBox 7" id="7"/>
          <p:cNvSpPr txBox="true"/>
          <p:nvPr/>
        </p:nvSpPr>
        <p:spPr>
          <a:xfrm rot="0">
            <a:off x="1028700"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NAME OF PROJECT:</a:t>
            </a:r>
          </a:p>
        </p:txBody>
      </p:sp>
      <p:sp>
        <p:nvSpPr>
          <p:cNvPr name="TextBox 8" id="8"/>
          <p:cNvSpPr txBox="true"/>
          <p:nvPr/>
        </p:nvSpPr>
        <p:spPr>
          <a:xfrm rot="0">
            <a:off x="1028700" y="8966251"/>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FlexiDoc</a:t>
            </a:r>
          </a:p>
        </p:txBody>
      </p:sp>
      <p:sp>
        <p:nvSpPr>
          <p:cNvPr name="TextBox 9" id="9"/>
          <p:cNvSpPr txBox="true"/>
          <p:nvPr/>
        </p:nvSpPr>
        <p:spPr>
          <a:xfrm rot="0">
            <a:off x="4394796" y="8677224"/>
            <a:ext cx="3366096" cy="236855"/>
          </a:xfrm>
          <a:prstGeom prst="rect">
            <a:avLst/>
          </a:prstGeom>
        </p:spPr>
        <p:txBody>
          <a:bodyPr anchor="t" rtlCol="false" tIns="0" lIns="0" bIns="0" rIns="0">
            <a:spAutoFit/>
          </a:bodyPr>
          <a:lstStyle/>
          <a:p>
            <a:pPr algn="l" marL="0" indent="0" lvl="0">
              <a:lnSpc>
                <a:spcPts val="2079"/>
              </a:lnSpc>
              <a:spcBef>
                <a:spcPct val="0"/>
              </a:spcBef>
            </a:pPr>
            <a:r>
              <a:rPr lang="en-US" b="true" sz="1599">
                <a:solidFill>
                  <a:srgbClr val="2B2B2B"/>
                </a:solidFill>
                <a:latin typeface="Garet Bold"/>
                <a:ea typeface="Garet Bold"/>
                <a:cs typeface="Garet Bold"/>
                <a:sym typeface="Garet Bold"/>
              </a:rPr>
              <a:t>PRESENTED BY:</a:t>
            </a:r>
          </a:p>
        </p:txBody>
      </p:sp>
      <p:sp>
        <p:nvSpPr>
          <p:cNvPr name="TextBox 10" id="10"/>
          <p:cNvSpPr txBox="true"/>
          <p:nvPr/>
        </p:nvSpPr>
        <p:spPr>
          <a:xfrm rot="0">
            <a:off x="4394796" y="8966251"/>
            <a:ext cx="3366096" cy="236855"/>
          </a:xfrm>
          <a:prstGeom prst="rect">
            <a:avLst/>
          </a:prstGeom>
        </p:spPr>
        <p:txBody>
          <a:bodyPr anchor="t" rtlCol="false" tIns="0" lIns="0" bIns="0" rIns="0">
            <a:spAutoFit/>
          </a:bodyPr>
          <a:lstStyle/>
          <a:p>
            <a:pPr algn="l" marL="0" indent="0" lvl="0">
              <a:lnSpc>
                <a:spcPts val="2079"/>
              </a:lnSpc>
              <a:spcBef>
                <a:spcPct val="0"/>
              </a:spcBef>
            </a:pPr>
            <a:r>
              <a:rPr lang="en-US" sz="1599">
                <a:solidFill>
                  <a:srgbClr val="2B2B2B"/>
                </a:solidFill>
                <a:latin typeface="Garet"/>
                <a:ea typeface="Garet"/>
                <a:cs typeface="Garet"/>
                <a:sym typeface="Garet"/>
              </a:rPr>
              <a:t>Stevie McLane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6026038" y="2157113"/>
            <a:ext cx="4621198" cy="5972775"/>
          </a:xfrm>
          <a:custGeom>
            <a:avLst/>
            <a:gdLst/>
            <a:ahLst/>
            <a:cxnLst/>
            <a:rect r="r" b="b" t="t" l="l"/>
            <a:pathLst>
              <a:path h="5972775" w="4621198">
                <a:moveTo>
                  <a:pt x="0" y="0"/>
                </a:moveTo>
                <a:lnTo>
                  <a:pt x="4621199" y="0"/>
                </a:lnTo>
                <a:lnTo>
                  <a:pt x="4621199" y="5972774"/>
                </a:lnTo>
                <a:lnTo>
                  <a:pt x="0" y="5972774"/>
                </a:lnTo>
                <a:lnTo>
                  <a:pt x="0" y="0"/>
                </a:lnTo>
                <a:close/>
              </a:path>
            </a:pathLst>
          </a:custGeom>
          <a:blipFill>
            <a:blip r:embed="rId3"/>
            <a:stretch>
              <a:fillRect l="0" t="0" r="0" b="0"/>
            </a:stretch>
          </a:blipFill>
        </p:spPr>
      </p:sp>
      <p:sp>
        <p:nvSpPr>
          <p:cNvPr name="TextBox 4" id="4"/>
          <p:cNvSpPr txBox="true"/>
          <p:nvPr/>
        </p:nvSpPr>
        <p:spPr>
          <a:xfrm rot="0">
            <a:off x="252221" y="2119013"/>
            <a:ext cx="3828934" cy="703580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I have chosen people diagnosed with agoraphobia as my user group. Agoraphobia can best be defined as “an anxiety disorder characterized by an intense fear of situations where escape might be difficult or help unavailable, often leading to severe avoidance of public spaces, crowds, or being alone.” </a:t>
            </a:r>
          </a:p>
          <a:p>
            <a:pPr algn="l">
              <a:lnSpc>
                <a:spcPts val="2800"/>
              </a:lnSpc>
            </a:pPr>
          </a:p>
          <a:p>
            <a:pPr algn="l">
              <a:lnSpc>
                <a:spcPts val="2800"/>
              </a:lnSpc>
            </a:pPr>
            <a:r>
              <a:rPr lang="en-US" sz="2000">
                <a:solidFill>
                  <a:srgbClr val="000000"/>
                </a:solidFill>
                <a:latin typeface="Garet"/>
                <a:ea typeface="Garet"/>
                <a:cs typeface="Garet"/>
                <a:sym typeface="Garet"/>
              </a:rPr>
              <a:t>Approximately 1.3% to 2% of adults experience agoraphobia at some point in their lives. To some, that might not sound like much, but 5.5 million people would beg to differ.</a:t>
            </a:r>
          </a:p>
        </p:txBody>
      </p:sp>
      <p:sp>
        <p:nvSpPr>
          <p:cNvPr name="TextBox 5" id="5"/>
          <p:cNvSpPr txBox="true"/>
          <p:nvPr/>
        </p:nvSpPr>
        <p:spPr>
          <a:xfrm rot="0">
            <a:off x="252221" y="1123950"/>
            <a:ext cx="7203393"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Usergroup</a:t>
            </a:r>
          </a:p>
        </p:txBody>
      </p:sp>
      <p:sp>
        <p:nvSpPr>
          <p:cNvPr name="TextBox 6" id="6"/>
          <p:cNvSpPr txBox="true"/>
          <p:nvPr/>
        </p:nvSpPr>
        <p:spPr>
          <a:xfrm rot="0">
            <a:off x="12079988" y="2119013"/>
            <a:ext cx="3828934" cy="315912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000000"/>
                </a:solidFill>
                <a:latin typeface="Garet"/>
                <a:ea typeface="Garet"/>
                <a:cs typeface="Garet"/>
                <a:sym typeface="Garet"/>
              </a:rPr>
              <a:t>Leaving Home</a:t>
            </a:r>
          </a:p>
          <a:p>
            <a:pPr algn="l">
              <a:lnSpc>
                <a:spcPts val="2800"/>
              </a:lnSpc>
            </a:pPr>
          </a:p>
          <a:p>
            <a:pPr algn="l" marL="431801" indent="-215900" lvl="1">
              <a:lnSpc>
                <a:spcPts val="2800"/>
              </a:lnSpc>
              <a:buFont typeface="Arial"/>
              <a:buChar char="•"/>
            </a:pPr>
            <a:r>
              <a:rPr lang="en-US" sz="2000">
                <a:solidFill>
                  <a:srgbClr val="000000"/>
                </a:solidFill>
                <a:latin typeface="Garet"/>
                <a:ea typeface="Garet"/>
                <a:cs typeface="Garet"/>
                <a:sym typeface="Garet"/>
              </a:rPr>
              <a:t>Crowds and Lines</a:t>
            </a:r>
          </a:p>
          <a:p>
            <a:pPr algn="l">
              <a:lnSpc>
                <a:spcPts val="2800"/>
              </a:lnSpc>
            </a:pPr>
          </a:p>
          <a:p>
            <a:pPr algn="l" marL="431801" indent="-215900" lvl="1">
              <a:lnSpc>
                <a:spcPts val="2800"/>
              </a:lnSpc>
              <a:buFont typeface="Arial"/>
              <a:buChar char="•"/>
            </a:pPr>
            <a:r>
              <a:rPr lang="en-US" sz="2000">
                <a:solidFill>
                  <a:srgbClr val="000000"/>
                </a:solidFill>
                <a:latin typeface="Garet"/>
                <a:ea typeface="Garet"/>
                <a:cs typeface="Garet"/>
                <a:sym typeface="Garet"/>
              </a:rPr>
              <a:t>Enclosed Public Spaces</a:t>
            </a:r>
          </a:p>
          <a:p>
            <a:pPr algn="l">
              <a:lnSpc>
                <a:spcPts val="2800"/>
              </a:lnSpc>
            </a:pPr>
          </a:p>
          <a:p>
            <a:pPr algn="l" marL="431801" indent="-215900" lvl="1">
              <a:lnSpc>
                <a:spcPts val="2800"/>
              </a:lnSpc>
              <a:buFont typeface="Arial"/>
              <a:buChar char="•"/>
            </a:pPr>
            <a:r>
              <a:rPr lang="en-US" sz="2000">
                <a:solidFill>
                  <a:srgbClr val="000000"/>
                </a:solidFill>
                <a:latin typeface="Garet"/>
                <a:ea typeface="Garet"/>
                <a:cs typeface="Garet"/>
                <a:sym typeface="Garet"/>
              </a:rPr>
              <a:t>Open Public Spaces</a:t>
            </a:r>
          </a:p>
          <a:p>
            <a:pPr algn="l">
              <a:lnSpc>
                <a:spcPts val="2800"/>
              </a:lnSpc>
            </a:pPr>
          </a:p>
          <a:p>
            <a:pPr algn="l" marL="431800" indent="-215900" lvl="1">
              <a:lnSpc>
                <a:spcPts val="2800"/>
              </a:lnSpc>
              <a:buFont typeface="Arial"/>
              <a:buChar char="•"/>
            </a:pPr>
            <a:r>
              <a:rPr lang="en-US" sz="2000">
                <a:solidFill>
                  <a:srgbClr val="000000"/>
                </a:solidFill>
                <a:latin typeface="Garet"/>
                <a:ea typeface="Garet"/>
                <a:cs typeface="Garet"/>
                <a:sym typeface="Garet"/>
              </a:rPr>
              <a:t>Loss of Control</a:t>
            </a:r>
          </a:p>
        </p:txBody>
      </p:sp>
      <p:sp>
        <p:nvSpPr>
          <p:cNvPr name="TextBox 7" id="7"/>
          <p:cNvSpPr txBox="true"/>
          <p:nvPr/>
        </p:nvSpPr>
        <p:spPr>
          <a:xfrm rot="0">
            <a:off x="10887517" y="1123950"/>
            <a:ext cx="7203393" cy="785704"/>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Known Struggles</a:t>
            </a:r>
          </a:p>
        </p:txBody>
      </p:sp>
    </p:spTree>
  </p:cSld>
  <p:clrMapOvr>
    <a:masterClrMapping/>
  </p:clrMapOvr>
  <p:transition spd="slow">
    <p:cover dir="ru"/>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3529353" y="7967196"/>
            <a:ext cx="4165666" cy="1628397"/>
          </a:xfrm>
          <a:custGeom>
            <a:avLst/>
            <a:gdLst/>
            <a:ahLst/>
            <a:cxnLst/>
            <a:rect r="r" b="b" t="t" l="l"/>
            <a:pathLst>
              <a:path h="1628397" w="4165666">
                <a:moveTo>
                  <a:pt x="0" y="0"/>
                </a:moveTo>
                <a:lnTo>
                  <a:pt x="4165666" y="0"/>
                </a:lnTo>
                <a:lnTo>
                  <a:pt x="4165666" y="1628397"/>
                </a:lnTo>
                <a:lnTo>
                  <a:pt x="0" y="16283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391697" y="3706259"/>
            <a:ext cx="2940093" cy="4921647"/>
          </a:xfrm>
          <a:custGeom>
            <a:avLst/>
            <a:gdLst/>
            <a:ahLst/>
            <a:cxnLst/>
            <a:rect r="r" b="b" t="t" l="l"/>
            <a:pathLst>
              <a:path h="4921647" w="2940093">
                <a:moveTo>
                  <a:pt x="0" y="0"/>
                </a:moveTo>
                <a:lnTo>
                  <a:pt x="2940093" y="0"/>
                </a:lnTo>
                <a:lnTo>
                  <a:pt x="2940093" y="4921647"/>
                </a:lnTo>
                <a:lnTo>
                  <a:pt x="0" y="4921647"/>
                </a:lnTo>
                <a:lnTo>
                  <a:pt x="0" y="0"/>
                </a:lnTo>
                <a:close/>
              </a:path>
            </a:pathLst>
          </a:custGeom>
          <a:blipFill>
            <a:blip r:embed="rId5"/>
            <a:stretch>
              <a:fillRect l="0" t="-14581" r="0" b="-14581"/>
            </a:stretch>
          </a:blipFill>
          <a:ln cap="rnd">
            <a:noFill/>
            <a:prstDash val="solid"/>
            <a:round/>
          </a:ln>
        </p:spPr>
      </p:sp>
      <p:sp>
        <p:nvSpPr>
          <p:cNvPr name="Freeform 5" id="5"/>
          <p:cNvSpPr/>
          <p:nvPr/>
        </p:nvSpPr>
        <p:spPr>
          <a:xfrm flipH="false" flipV="false" rot="0">
            <a:off x="926178" y="886898"/>
            <a:ext cx="2940093" cy="4921647"/>
          </a:xfrm>
          <a:custGeom>
            <a:avLst/>
            <a:gdLst/>
            <a:ahLst/>
            <a:cxnLst/>
            <a:rect r="r" b="b" t="t" l="l"/>
            <a:pathLst>
              <a:path h="4921647" w="2940093">
                <a:moveTo>
                  <a:pt x="0" y="0"/>
                </a:moveTo>
                <a:lnTo>
                  <a:pt x="2940093" y="0"/>
                </a:lnTo>
                <a:lnTo>
                  <a:pt x="2940093" y="4921647"/>
                </a:lnTo>
                <a:lnTo>
                  <a:pt x="0" y="4921647"/>
                </a:lnTo>
                <a:lnTo>
                  <a:pt x="0" y="0"/>
                </a:lnTo>
                <a:close/>
              </a:path>
            </a:pathLst>
          </a:custGeom>
          <a:blipFill>
            <a:blip r:embed="rId6"/>
            <a:stretch>
              <a:fillRect l="0" t="-14060" r="0" b="-15102"/>
            </a:stretch>
          </a:blipFill>
        </p:spPr>
      </p:sp>
      <p:sp>
        <p:nvSpPr>
          <p:cNvPr name="TextBox 6" id="6"/>
          <p:cNvSpPr txBox="true"/>
          <p:nvPr/>
        </p:nvSpPr>
        <p:spPr>
          <a:xfrm rot="0">
            <a:off x="10055907" y="982148"/>
            <a:ext cx="7203393" cy="789241"/>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Research</a:t>
            </a:r>
          </a:p>
        </p:txBody>
      </p:sp>
      <p:sp>
        <p:nvSpPr>
          <p:cNvPr name="TextBox 7" id="7"/>
          <p:cNvSpPr txBox="true"/>
          <p:nvPr/>
        </p:nvSpPr>
        <p:spPr>
          <a:xfrm rot="0">
            <a:off x="9251860" y="2476239"/>
            <a:ext cx="8007440" cy="4823460"/>
          </a:xfrm>
          <a:prstGeom prst="rect">
            <a:avLst/>
          </a:prstGeom>
        </p:spPr>
        <p:txBody>
          <a:bodyPr anchor="t" rtlCol="false" tIns="0" lIns="0" bIns="0" rIns="0">
            <a:spAutoFit/>
          </a:bodyPr>
          <a:lstStyle/>
          <a:p>
            <a:pPr algn="l">
              <a:lnSpc>
                <a:spcPts val="2939"/>
              </a:lnSpc>
            </a:pPr>
            <a:r>
              <a:rPr lang="en-US" sz="2099">
                <a:solidFill>
                  <a:srgbClr val="000000"/>
                </a:solidFill>
                <a:latin typeface="Garet"/>
                <a:ea typeface="Garet"/>
                <a:cs typeface="Garet"/>
                <a:sym typeface="Garet"/>
              </a:rPr>
              <a:t>I contacted members of an Agoraphobia support group through Instagram, and asked them the following open-ended research questions:</a:t>
            </a:r>
          </a:p>
          <a:p>
            <a:pPr algn="r">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What situations or environments outside your home feel most difficult or stressful for you, and why? </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Can you walk me through a recent experience where you needed to go out or interact with something (like an app, service, or place) and it didn’t go well?</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What would make it easier or more comfortable for you to do those same activities in the future?</a:t>
            </a:r>
          </a:p>
        </p:txBody>
      </p:sp>
    </p:spTree>
  </p:cSld>
  <p:clrMapOvr>
    <a:masterClrMapping/>
  </p:clrMapOvr>
  <p:transition spd="slow">
    <p:cover dir="ru"/>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p:nvPr/>
        </p:nvGrpSpPr>
        <p:grpSpPr>
          <a:xfrm rot="0">
            <a:off x="9626297" y="767080"/>
            <a:ext cx="3086100" cy="3028950"/>
            <a:chOff x="0" y="0"/>
            <a:chExt cx="685800" cy="673100"/>
          </a:xfrm>
        </p:grpSpPr>
        <p:sp>
          <p:nvSpPr>
            <p:cNvPr name="Freeform 4" id="4"/>
            <p:cNvSpPr/>
            <p:nvPr/>
          </p:nvSpPr>
          <p:spPr>
            <a:xfrm flipH="false" flipV="false" rot="0">
              <a:off x="0" y="0"/>
              <a:ext cx="685800" cy="679450"/>
            </a:xfrm>
            <a:custGeom>
              <a:avLst/>
              <a:gdLst/>
              <a:ahLst/>
              <a:cxnLst/>
              <a:rect r="r" b="b" t="t" l="l"/>
              <a:pathLst>
                <a:path h="679450" w="68580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2E9DD"/>
            </a:solidFill>
          </p:spPr>
        </p:sp>
        <p:sp>
          <p:nvSpPr>
            <p:cNvPr name="TextBox 5" id="5"/>
            <p:cNvSpPr txBox="true"/>
            <p:nvPr/>
          </p:nvSpPr>
          <p:spPr>
            <a:xfrm>
              <a:off x="203200" y="165100"/>
              <a:ext cx="279400" cy="317500"/>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14361821" y="3209465"/>
            <a:ext cx="3086100" cy="3028950"/>
            <a:chOff x="0" y="0"/>
            <a:chExt cx="685800" cy="673100"/>
          </a:xfrm>
        </p:grpSpPr>
        <p:sp>
          <p:nvSpPr>
            <p:cNvPr name="Freeform 7" id="7"/>
            <p:cNvSpPr/>
            <p:nvPr/>
          </p:nvSpPr>
          <p:spPr>
            <a:xfrm flipH="false" flipV="false" rot="0">
              <a:off x="0" y="0"/>
              <a:ext cx="685800" cy="679450"/>
            </a:xfrm>
            <a:custGeom>
              <a:avLst/>
              <a:gdLst/>
              <a:ahLst/>
              <a:cxnLst/>
              <a:rect r="r" b="b" t="t" l="l"/>
              <a:pathLst>
                <a:path h="679450" w="68580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2E9DD"/>
            </a:solidFill>
          </p:spPr>
        </p:sp>
        <p:sp>
          <p:nvSpPr>
            <p:cNvPr name="TextBox 8" id="8"/>
            <p:cNvSpPr txBox="true"/>
            <p:nvPr/>
          </p:nvSpPr>
          <p:spPr>
            <a:xfrm>
              <a:off x="203200" y="165100"/>
              <a:ext cx="279400" cy="317500"/>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9320309" y="5493611"/>
            <a:ext cx="3086100" cy="3028950"/>
            <a:chOff x="0" y="0"/>
            <a:chExt cx="685800" cy="673100"/>
          </a:xfrm>
        </p:grpSpPr>
        <p:sp>
          <p:nvSpPr>
            <p:cNvPr name="Freeform 10" id="10"/>
            <p:cNvSpPr/>
            <p:nvPr/>
          </p:nvSpPr>
          <p:spPr>
            <a:xfrm flipH="false" flipV="false" rot="0">
              <a:off x="0" y="0"/>
              <a:ext cx="685800" cy="679450"/>
            </a:xfrm>
            <a:custGeom>
              <a:avLst/>
              <a:gdLst/>
              <a:ahLst/>
              <a:cxnLst/>
              <a:rect r="r" b="b" t="t" l="l"/>
              <a:pathLst>
                <a:path h="679450" w="68580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2E9DD"/>
            </a:solidFill>
          </p:spPr>
        </p:sp>
        <p:sp>
          <p:nvSpPr>
            <p:cNvPr name="TextBox 11" id="11"/>
            <p:cNvSpPr txBox="true"/>
            <p:nvPr/>
          </p:nvSpPr>
          <p:spPr>
            <a:xfrm>
              <a:off x="203200" y="165100"/>
              <a:ext cx="279400" cy="317500"/>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13458428" y="7577723"/>
            <a:ext cx="3086100" cy="3028950"/>
            <a:chOff x="0" y="0"/>
            <a:chExt cx="685800" cy="673100"/>
          </a:xfrm>
        </p:grpSpPr>
        <p:sp>
          <p:nvSpPr>
            <p:cNvPr name="Freeform 13" id="13"/>
            <p:cNvSpPr/>
            <p:nvPr/>
          </p:nvSpPr>
          <p:spPr>
            <a:xfrm flipH="false" flipV="false" rot="0">
              <a:off x="0" y="0"/>
              <a:ext cx="685800" cy="679450"/>
            </a:xfrm>
            <a:custGeom>
              <a:avLst/>
              <a:gdLst/>
              <a:ahLst/>
              <a:cxnLst/>
              <a:rect r="r" b="b" t="t" l="l"/>
              <a:pathLst>
                <a:path h="679450" w="685800">
                  <a:moveTo>
                    <a:pt x="342900" y="0"/>
                  </a:moveTo>
                  <a:lnTo>
                    <a:pt x="382270" y="210820"/>
                  </a:lnTo>
                  <a:lnTo>
                    <a:pt x="529590" y="54610"/>
                  </a:lnTo>
                  <a:lnTo>
                    <a:pt x="449580" y="254000"/>
                  </a:lnTo>
                  <a:lnTo>
                    <a:pt x="657860" y="201930"/>
                  </a:lnTo>
                  <a:lnTo>
                    <a:pt x="482600" y="326390"/>
                  </a:lnTo>
                  <a:lnTo>
                    <a:pt x="685800" y="396240"/>
                  </a:lnTo>
                  <a:lnTo>
                    <a:pt x="471170" y="405130"/>
                  </a:lnTo>
                  <a:lnTo>
                    <a:pt x="604520" y="572770"/>
                  </a:lnTo>
                  <a:lnTo>
                    <a:pt x="419100" y="464820"/>
                  </a:lnTo>
                  <a:lnTo>
                    <a:pt x="440690" y="679450"/>
                  </a:lnTo>
                  <a:lnTo>
                    <a:pt x="342900" y="487680"/>
                  </a:lnTo>
                  <a:lnTo>
                    <a:pt x="245110" y="679450"/>
                  </a:lnTo>
                  <a:lnTo>
                    <a:pt x="266700" y="464820"/>
                  </a:lnTo>
                  <a:lnTo>
                    <a:pt x="81280" y="572770"/>
                  </a:lnTo>
                  <a:lnTo>
                    <a:pt x="214630" y="405130"/>
                  </a:lnTo>
                  <a:lnTo>
                    <a:pt x="0" y="396240"/>
                  </a:lnTo>
                  <a:lnTo>
                    <a:pt x="203200" y="326390"/>
                  </a:lnTo>
                  <a:lnTo>
                    <a:pt x="27940" y="201930"/>
                  </a:lnTo>
                  <a:lnTo>
                    <a:pt x="236220" y="254000"/>
                  </a:lnTo>
                  <a:lnTo>
                    <a:pt x="156210" y="54610"/>
                  </a:lnTo>
                  <a:lnTo>
                    <a:pt x="303530" y="210820"/>
                  </a:lnTo>
                  <a:close/>
                </a:path>
              </a:pathLst>
            </a:custGeom>
            <a:solidFill>
              <a:srgbClr val="F2E9DD"/>
            </a:solidFill>
          </p:spPr>
        </p:sp>
        <p:sp>
          <p:nvSpPr>
            <p:cNvPr name="TextBox 14" id="14"/>
            <p:cNvSpPr txBox="true"/>
            <p:nvPr/>
          </p:nvSpPr>
          <p:spPr>
            <a:xfrm>
              <a:off x="203200" y="165100"/>
              <a:ext cx="279400" cy="317500"/>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1067082" y="1009650"/>
            <a:ext cx="8115300" cy="1162050"/>
          </a:xfrm>
          <a:prstGeom prst="rect">
            <a:avLst/>
          </a:prstGeom>
        </p:spPr>
        <p:txBody>
          <a:bodyPr anchor="t" rtlCol="false" tIns="0" lIns="0" bIns="0" rIns="0">
            <a:spAutoFit/>
          </a:bodyPr>
          <a:lstStyle/>
          <a:p>
            <a:pPr algn="l">
              <a:lnSpc>
                <a:spcPts val="9000"/>
              </a:lnSpc>
            </a:pPr>
            <a:r>
              <a:rPr lang="en-US" sz="7500">
                <a:solidFill>
                  <a:srgbClr val="000000"/>
                </a:solidFill>
                <a:latin typeface="Archivo Black"/>
                <a:ea typeface="Archivo Black"/>
                <a:cs typeface="Archivo Black"/>
                <a:sym typeface="Archivo Black"/>
              </a:rPr>
              <a:t>Pain Points</a:t>
            </a:r>
          </a:p>
        </p:txBody>
      </p:sp>
      <p:sp>
        <p:nvSpPr>
          <p:cNvPr name="TextBox 16" id="16"/>
          <p:cNvSpPr txBox="true"/>
          <p:nvPr/>
        </p:nvSpPr>
        <p:spPr>
          <a:xfrm rot="0">
            <a:off x="1067082" y="2365608"/>
            <a:ext cx="8076918" cy="997839"/>
          </a:xfrm>
          <a:prstGeom prst="rect">
            <a:avLst/>
          </a:prstGeom>
        </p:spPr>
        <p:txBody>
          <a:bodyPr anchor="t" rtlCol="false" tIns="0" lIns="0" bIns="0" rIns="0">
            <a:spAutoFit/>
          </a:bodyPr>
          <a:lstStyle/>
          <a:p>
            <a:pPr algn="l">
              <a:lnSpc>
                <a:spcPts val="2688"/>
              </a:lnSpc>
            </a:pPr>
            <a:r>
              <a:rPr lang="en-US" sz="2100">
                <a:solidFill>
                  <a:srgbClr val="000000"/>
                </a:solidFill>
                <a:latin typeface="Garet"/>
                <a:ea typeface="Garet"/>
                <a:cs typeface="Garet"/>
                <a:sym typeface="Garet"/>
              </a:rPr>
              <a:t>The interviews that I conducted with diagnosed agoraphobes helped to shed light on three primary general pain points.</a:t>
            </a:r>
          </a:p>
        </p:txBody>
      </p:sp>
      <p:grpSp>
        <p:nvGrpSpPr>
          <p:cNvPr name="Group 17" id="17"/>
          <p:cNvGrpSpPr/>
          <p:nvPr/>
        </p:nvGrpSpPr>
        <p:grpSpPr>
          <a:xfrm rot="0">
            <a:off x="1028700" y="3796030"/>
            <a:ext cx="7664150" cy="1539342"/>
            <a:chOff x="0" y="0"/>
            <a:chExt cx="10218867" cy="2052456"/>
          </a:xfrm>
        </p:grpSpPr>
        <p:sp>
          <p:nvSpPr>
            <p:cNvPr name="TextBox 18" id="18"/>
            <p:cNvSpPr txBox="true"/>
            <p:nvPr/>
          </p:nvSpPr>
          <p:spPr>
            <a:xfrm rot="0">
              <a:off x="0" y="-28575"/>
              <a:ext cx="10218867"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Companionship Fostering Safety</a:t>
              </a:r>
            </a:p>
          </p:txBody>
        </p:sp>
        <p:sp>
          <p:nvSpPr>
            <p:cNvPr name="TextBox 19" id="19"/>
            <p:cNvSpPr txBox="true"/>
            <p:nvPr/>
          </p:nvSpPr>
          <p:spPr>
            <a:xfrm rot="0">
              <a:off x="0" y="622859"/>
              <a:ext cx="10218867" cy="1429597"/>
            </a:xfrm>
            <a:prstGeom prst="rect">
              <a:avLst/>
            </a:prstGeom>
          </p:spPr>
          <p:txBody>
            <a:bodyPr anchor="t" rtlCol="false" tIns="0" lIns="0" bIns="0" rIns="0">
              <a:spAutoFit/>
            </a:bodyPr>
            <a:lstStyle/>
            <a:p>
              <a:pPr algn="l" marL="0" indent="0" lvl="0">
                <a:lnSpc>
                  <a:spcPts val="2859"/>
                </a:lnSpc>
                <a:spcBef>
                  <a:spcPct val="0"/>
                </a:spcBef>
              </a:pPr>
              <a:r>
                <a:rPr lang="en-US" sz="2199">
                  <a:solidFill>
                    <a:srgbClr val="000000"/>
                  </a:solidFill>
                  <a:latin typeface="Garet"/>
                  <a:ea typeface="Garet"/>
                  <a:cs typeface="Garet"/>
                  <a:sym typeface="Garet"/>
                </a:rPr>
                <a:t>Users only feel safe when in the presence of a trusted figure (parent, guardian, partner, ect.) or medical professional.</a:t>
              </a:r>
            </a:p>
          </p:txBody>
        </p:sp>
      </p:grpSp>
      <p:grpSp>
        <p:nvGrpSpPr>
          <p:cNvPr name="Group 20" id="20"/>
          <p:cNvGrpSpPr/>
          <p:nvPr/>
        </p:nvGrpSpPr>
        <p:grpSpPr>
          <a:xfrm rot="0">
            <a:off x="1067082" y="5468744"/>
            <a:ext cx="7664150" cy="1539342"/>
            <a:chOff x="0" y="0"/>
            <a:chExt cx="10218867" cy="2052456"/>
          </a:xfrm>
        </p:grpSpPr>
        <p:sp>
          <p:nvSpPr>
            <p:cNvPr name="TextBox 21" id="21"/>
            <p:cNvSpPr txBox="true"/>
            <p:nvPr/>
          </p:nvSpPr>
          <p:spPr>
            <a:xfrm rot="0">
              <a:off x="0" y="-28575"/>
              <a:ext cx="10218867"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Variation in Percieved Safety Levels</a:t>
              </a:r>
            </a:p>
          </p:txBody>
        </p:sp>
        <p:sp>
          <p:nvSpPr>
            <p:cNvPr name="TextBox 22" id="22"/>
            <p:cNvSpPr txBox="true"/>
            <p:nvPr/>
          </p:nvSpPr>
          <p:spPr>
            <a:xfrm rot="0">
              <a:off x="0" y="622859"/>
              <a:ext cx="10218867" cy="1429597"/>
            </a:xfrm>
            <a:prstGeom prst="rect">
              <a:avLst/>
            </a:prstGeom>
          </p:spPr>
          <p:txBody>
            <a:bodyPr anchor="t" rtlCol="false" tIns="0" lIns="0" bIns="0" rIns="0">
              <a:spAutoFit/>
            </a:bodyPr>
            <a:lstStyle/>
            <a:p>
              <a:pPr algn="l" marL="0" indent="0" lvl="0">
                <a:lnSpc>
                  <a:spcPts val="2859"/>
                </a:lnSpc>
                <a:spcBef>
                  <a:spcPct val="0"/>
                </a:spcBef>
              </a:pPr>
              <a:r>
                <a:rPr lang="en-US" sz="2199">
                  <a:solidFill>
                    <a:srgbClr val="000000"/>
                  </a:solidFill>
                  <a:latin typeface="Garet"/>
                  <a:ea typeface="Garet"/>
                  <a:cs typeface="Garet"/>
                  <a:sym typeface="Garet"/>
                </a:rPr>
                <a:t>The amount of anxiety the user has for leaving the house varies from day to day. One day they can go to the store, the next is the end of the world</a:t>
              </a:r>
            </a:p>
          </p:txBody>
        </p:sp>
      </p:grpSp>
      <p:grpSp>
        <p:nvGrpSpPr>
          <p:cNvPr name="Group 23" id="23"/>
          <p:cNvGrpSpPr/>
          <p:nvPr/>
        </p:nvGrpSpPr>
        <p:grpSpPr>
          <a:xfrm rot="0">
            <a:off x="1028700" y="7141436"/>
            <a:ext cx="7664150" cy="2625192"/>
            <a:chOff x="0" y="0"/>
            <a:chExt cx="10218867" cy="3500256"/>
          </a:xfrm>
        </p:grpSpPr>
        <p:sp>
          <p:nvSpPr>
            <p:cNvPr name="TextBox 24" id="24"/>
            <p:cNvSpPr txBox="true"/>
            <p:nvPr/>
          </p:nvSpPr>
          <p:spPr>
            <a:xfrm rot="0">
              <a:off x="0" y="-28575"/>
              <a:ext cx="10218867"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Frequent Schedule Modifications</a:t>
              </a:r>
            </a:p>
          </p:txBody>
        </p:sp>
        <p:sp>
          <p:nvSpPr>
            <p:cNvPr name="TextBox 25" id="25"/>
            <p:cNvSpPr txBox="true"/>
            <p:nvPr/>
          </p:nvSpPr>
          <p:spPr>
            <a:xfrm rot="0">
              <a:off x="0" y="622859"/>
              <a:ext cx="10218867" cy="2877397"/>
            </a:xfrm>
            <a:prstGeom prst="rect">
              <a:avLst/>
            </a:prstGeom>
          </p:spPr>
          <p:txBody>
            <a:bodyPr anchor="t" rtlCol="false" tIns="0" lIns="0" bIns="0" rIns="0">
              <a:spAutoFit/>
            </a:bodyPr>
            <a:lstStyle/>
            <a:p>
              <a:pPr algn="l" marL="0" indent="0" lvl="0">
                <a:lnSpc>
                  <a:spcPts val="2859"/>
                </a:lnSpc>
                <a:spcBef>
                  <a:spcPct val="0"/>
                </a:spcBef>
              </a:pPr>
              <a:r>
                <a:rPr lang="en-US" sz="2199">
                  <a:solidFill>
                    <a:srgbClr val="000000"/>
                  </a:solidFill>
                  <a:latin typeface="Garet"/>
                  <a:ea typeface="Garet"/>
                  <a:cs typeface="Garet"/>
                  <a:sym typeface="Garet"/>
                </a:rPr>
                <a:t>When attending scheduled events - particularly doctor’s appointments - users often find themselves feeling content in their anxiety levels up until the moment right before the appointment. This leads to constant rescheduling and even canceling of important events.</a:t>
              </a:r>
            </a:p>
          </p:txBody>
        </p:sp>
      </p:grpSp>
    </p:spTree>
  </p:cSld>
  <p:clrMapOvr>
    <a:masterClrMapping/>
  </p:clrMapOvr>
  <p:transition spd="slow">
    <p:cover dir="ru"/>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598733" y="1675989"/>
            <a:ext cx="8161182" cy="4560060"/>
          </a:xfrm>
          <a:custGeom>
            <a:avLst/>
            <a:gdLst/>
            <a:ahLst/>
            <a:cxnLst/>
            <a:rect r="r" b="b" t="t" l="l"/>
            <a:pathLst>
              <a:path h="4560060" w="8161182">
                <a:moveTo>
                  <a:pt x="0" y="0"/>
                </a:moveTo>
                <a:lnTo>
                  <a:pt x="8161182" y="0"/>
                </a:lnTo>
                <a:lnTo>
                  <a:pt x="8161182" y="4560060"/>
                </a:lnTo>
                <a:lnTo>
                  <a:pt x="0" y="4560060"/>
                </a:lnTo>
                <a:lnTo>
                  <a:pt x="0" y="0"/>
                </a:lnTo>
                <a:close/>
              </a:path>
            </a:pathLst>
          </a:custGeom>
          <a:blipFill>
            <a:blip r:embed="rId3"/>
            <a:stretch>
              <a:fillRect l="0" t="0" r="0" b="0"/>
            </a:stretch>
          </a:blipFill>
          <a:ln w="38100" cap="rnd">
            <a:solidFill>
              <a:srgbClr val="EDE3D7"/>
            </a:solidFill>
            <a:prstDash val="solid"/>
            <a:round/>
          </a:ln>
        </p:spPr>
      </p:sp>
      <p:sp>
        <p:nvSpPr>
          <p:cNvPr name="Freeform 4" id="4"/>
          <p:cNvSpPr/>
          <p:nvPr/>
        </p:nvSpPr>
        <p:spPr>
          <a:xfrm flipH="false" flipV="false" rot="0">
            <a:off x="9298788" y="1675989"/>
            <a:ext cx="8161182" cy="4570262"/>
          </a:xfrm>
          <a:custGeom>
            <a:avLst/>
            <a:gdLst/>
            <a:ahLst/>
            <a:cxnLst/>
            <a:rect r="r" b="b" t="t" l="l"/>
            <a:pathLst>
              <a:path h="4570262" w="8161182">
                <a:moveTo>
                  <a:pt x="0" y="0"/>
                </a:moveTo>
                <a:lnTo>
                  <a:pt x="8161181" y="0"/>
                </a:lnTo>
                <a:lnTo>
                  <a:pt x="8161181" y="4570261"/>
                </a:lnTo>
                <a:lnTo>
                  <a:pt x="0" y="4570261"/>
                </a:lnTo>
                <a:lnTo>
                  <a:pt x="0" y="0"/>
                </a:lnTo>
                <a:close/>
              </a:path>
            </a:pathLst>
          </a:custGeom>
          <a:blipFill>
            <a:blip r:embed="rId4"/>
            <a:stretch>
              <a:fillRect l="0" t="0" r="0" b="0"/>
            </a:stretch>
          </a:blipFill>
          <a:ln w="38100" cap="rnd">
            <a:solidFill>
              <a:srgbClr val="EDE3D7"/>
            </a:solidFill>
            <a:prstDash val="solid"/>
            <a:round/>
          </a:ln>
        </p:spPr>
      </p:sp>
      <p:sp>
        <p:nvSpPr>
          <p:cNvPr name="TextBox 5" id="5"/>
          <p:cNvSpPr txBox="true"/>
          <p:nvPr/>
        </p:nvSpPr>
        <p:spPr>
          <a:xfrm rot="0">
            <a:off x="752475" y="599180"/>
            <a:ext cx="7203393"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Personas</a:t>
            </a:r>
          </a:p>
        </p:txBody>
      </p:sp>
      <p:sp>
        <p:nvSpPr>
          <p:cNvPr name="TextBox 6" id="6"/>
          <p:cNvSpPr txBox="true"/>
          <p:nvPr/>
        </p:nvSpPr>
        <p:spPr>
          <a:xfrm rot="0">
            <a:off x="4679324" y="636270"/>
            <a:ext cx="12659635" cy="737235"/>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For my personas, I chose to identify two contrasting ends of my user group. The wider a net I cast, the more effective my solution can be. </a:t>
            </a:r>
          </a:p>
        </p:txBody>
      </p:sp>
    </p:spTree>
  </p:cSld>
  <p:clrMapOvr>
    <a:masterClrMapping/>
  </p:clrMapOvr>
  <p:transition spd="slow">
    <p:cover dir="ru"/>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2138336"/>
            <a:ext cx="7767791" cy="6010328"/>
          </a:xfrm>
          <a:custGeom>
            <a:avLst/>
            <a:gdLst/>
            <a:ahLst/>
            <a:cxnLst/>
            <a:rect r="r" b="b" t="t" l="l"/>
            <a:pathLst>
              <a:path h="6010328" w="7767791">
                <a:moveTo>
                  <a:pt x="0" y="0"/>
                </a:moveTo>
                <a:lnTo>
                  <a:pt x="7767791" y="0"/>
                </a:lnTo>
                <a:lnTo>
                  <a:pt x="7767791" y="6010328"/>
                </a:lnTo>
                <a:lnTo>
                  <a:pt x="0" y="6010328"/>
                </a:lnTo>
                <a:lnTo>
                  <a:pt x="0" y="0"/>
                </a:lnTo>
                <a:close/>
              </a:path>
            </a:pathLst>
          </a:custGeom>
          <a:blipFill>
            <a:blip r:embed="rId3"/>
            <a:stretch>
              <a:fillRect l="0" t="0" r="0" b="0"/>
            </a:stretch>
          </a:blipFill>
          <a:ln w="171450" cap="rnd">
            <a:solidFill>
              <a:srgbClr val="F0E6DA"/>
            </a:solidFill>
            <a:prstDash val="solid"/>
            <a:round/>
          </a:ln>
        </p:spPr>
      </p:sp>
      <p:sp>
        <p:nvSpPr>
          <p:cNvPr name="Freeform 4" id="4"/>
          <p:cNvSpPr/>
          <p:nvPr/>
        </p:nvSpPr>
        <p:spPr>
          <a:xfrm flipH="false" flipV="false" rot="0">
            <a:off x="9747924" y="3682845"/>
            <a:ext cx="7767791" cy="6010328"/>
          </a:xfrm>
          <a:custGeom>
            <a:avLst/>
            <a:gdLst/>
            <a:ahLst/>
            <a:cxnLst/>
            <a:rect r="r" b="b" t="t" l="l"/>
            <a:pathLst>
              <a:path h="6010328" w="7767791">
                <a:moveTo>
                  <a:pt x="0" y="0"/>
                </a:moveTo>
                <a:lnTo>
                  <a:pt x="7767791" y="0"/>
                </a:lnTo>
                <a:lnTo>
                  <a:pt x="7767791" y="6010328"/>
                </a:lnTo>
                <a:lnTo>
                  <a:pt x="0" y="6010328"/>
                </a:lnTo>
                <a:lnTo>
                  <a:pt x="0" y="0"/>
                </a:lnTo>
                <a:close/>
              </a:path>
            </a:pathLst>
          </a:custGeom>
          <a:blipFill>
            <a:blip r:embed="rId4"/>
            <a:stretch>
              <a:fillRect l="0" t="0" r="0" b="0"/>
            </a:stretch>
          </a:blipFill>
          <a:ln w="171450" cap="rnd">
            <a:solidFill>
              <a:srgbClr val="F0E6DA"/>
            </a:solidFill>
            <a:prstDash val="solid"/>
            <a:round/>
          </a:ln>
        </p:spPr>
      </p:sp>
      <p:sp>
        <p:nvSpPr>
          <p:cNvPr name="TextBox 5" id="5"/>
          <p:cNvSpPr txBox="true"/>
          <p:nvPr/>
        </p:nvSpPr>
        <p:spPr>
          <a:xfrm rot="0">
            <a:off x="752475" y="599180"/>
            <a:ext cx="7203393"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Emapthy Maps</a:t>
            </a:r>
          </a:p>
        </p:txBody>
      </p:sp>
      <p:sp>
        <p:nvSpPr>
          <p:cNvPr name="TextBox 6" id="6"/>
          <p:cNvSpPr txBox="true"/>
          <p:nvPr/>
        </p:nvSpPr>
        <p:spPr>
          <a:xfrm rot="0">
            <a:off x="6544391" y="636270"/>
            <a:ext cx="10794567" cy="737235"/>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From my personas, I created user empaty maps to beter understand my users and put myself in their shoes.</a:t>
            </a:r>
          </a:p>
        </p:txBody>
      </p:sp>
    </p:spTree>
  </p:cSld>
  <p:clrMapOvr>
    <a:masterClrMapping/>
  </p:clrMapOvr>
  <p:transition spd="slow">
    <p:cover dir="r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grpSp>
        <p:nvGrpSpPr>
          <p:cNvPr name="Group 5" id="5"/>
          <p:cNvGrpSpPr/>
          <p:nvPr/>
        </p:nvGrpSpPr>
        <p:grpSpPr>
          <a:xfrm rot="0">
            <a:off x="14173200" y="552889"/>
            <a:ext cx="3086100" cy="2960137"/>
            <a:chOff x="0" y="0"/>
            <a:chExt cx="622300" cy="596900"/>
          </a:xfrm>
        </p:grpSpPr>
        <p:sp>
          <p:nvSpPr>
            <p:cNvPr name="Freeform 6" id="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2B2B2B"/>
            </a:solidFill>
          </p:spPr>
        </p:sp>
        <p:sp>
          <p:nvSpPr>
            <p:cNvPr name="TextBox 7" id="7"/>
            <p:cNvSpPr txBox="true"/>
            <p:nvPr/>
          </p:nvSpPr>
          <p:spPr>
            <a:xfrm>
              <a:off x="0" y="98425"/>
              <a:ext cx="622300" cy="371475"/>
            </a:xfrm>
            <a:prstGeom prst="rect">
              <a:avLst/>
            </a:prstGeom>
          </p:spPr>
          <p:txBody>
            <a:bodyPr anchor="ctr" rtlCol="false" tIns="50800" lIns="50800" bIns="50800" rIns="50800"/>
            <a:lstStyle/>
            <a:p>
              <a:pPr algn="ctr">
                <a:lnSpc>
                  <a:spcPts val="3249"/>
                </a:lnSpc>
              </a:pPr>
            </a:p>
          </p:txBody>
        </p:sp>
      </p:grpSp>
      <p:sp>
        <p:nvSpPr>
          <p:cNvPr name="TextBox 8" id="8"/>
          <p:cNvSpPr txBox="true"/>
          <p:nvPr/>
        </p:nvSpPr>
        <p:spPr>
          <a:xfrm rot="0">
            <a:off x="693571" y="807119"/>
            <a:ext cx="7203393" cy="6622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My Solution</a:t>
            </a:r>
          </a:p>
        </p:txBody>
      </p:sp>
      <p:sp>
        <p:nvSpPr>
          <p:cNvPr name="TextBox 9" id="9"/>
          <p:cNvSpPr txBox="true"/>
          <p:nvPr/>
        </p:nvSpPr>
        <p:spPr>
          <a:xfrm rot="0">
            <a:off x="693571" y="2004383"/>
            <a:ext cx="12151969" cy="6550025"/>
          </a:xfrm>
          <a:prstGeom prst="rect">
            <a:avLst/>
          </a:prstGeom>
        </p:spPr>
        <p:txBody>
          <a:bodyPr anchor="t" rtlCol="false" tIns="0" lIns="0" bIns="0" rIns="0">
            <a:spAutoFit/>
          </a:bodyPr>
          <a:lstStyle/>
          <a:p>
            <a:pPr algn="l" marL="539748" indent="-269874" lvl="1">
              <a:lnSpc>
                <a:spcPts val="3249"/>
              </a:lnSpc>
              <a:buFont typeface="Arial"/>
              <a:buChar char="•"/>
            </a:pPr>
            <a:r>
              <a:rPr lang="en-US" b="true" sz="2499">
                <a:solidFill>
                  <a:srgbClr val="000000"/>
                </a:solidFill>
                <a:latin typeface="Garet Bold"/>
                <a:ea typeface="Garet Bold"/>
                <a:cs typeface="Garet Bold"/>
                <a:sym typeface="Garet Bold"/>
              </a:rPr>
              <a:t>While other solutions and remedies are already in place, I’ve chosen to create an application that acts as a digital planner, with features tailored to agoraphobes</a:t>
            </a:r>
          </a:p>
          <a:p>
            <a:pPr algn="l">
              <a:lnSpc>
                <a:spcPts val="3249"/>
              </a:lnSpc>
            </a:pPr>
          </a:p>
          <a:p>
            <a:pPr algn="l" marL="539748" indent="-269874" lvl="1">
              <a:lnSpc>
                <a:spcPts val="3249"/>
              </a:lnSpc>
              <a:buFont typeface="Arial"/>
              <a:buChar char="•"/>
            </a:pPr>
            <a:r>
              <a:rPr lang="en-US" b="true" sz="2499">
                <a:solidFill>
                  <a:srgbClr val="000000"/>
                </a:solidFill>
                <a:latin typeface="Garet Bold"/>
                <a:ea typeface="Garet Bold"/>
                <a:cs typeface="Garet Bold"/>
                <a:sym typeface="Garet Bold"/>
              </a:rPr>
              <a:t>Users can book an amount of time set by their office of choice (Four days, Five days, One week, ect)</a:t>
            </a:r>
          </a:p>
          <a:p>
            <a:pPr algn="l">
              <a:lnSpc>
                <a:spcPts val="3249"/>
              </a:lnSpc>
            </a:pPr>
          </a:p>
          <a:p>
            <a:pPr algn="l" marL="539748" indent="-269874" lvl="1">
              <a:lnSpc>
                <a:spcPts val="3249"/>
              </a:lnSpc>
              <a:buFont typeface="Arial"/>
              <a:buChar char="•"/>
            </a:pPr>
            <a:r>
              <a:rPr lang="en-US" b="true" sz="2499">
                <a:solidFill>
                  <a:srgbClr val="000000"/>
                </a:solidFill>
                <a:latin typeface="Garet Bold"/>
                <a:ea typeface="Garet Bold"/>
                <a:cs typeface="Garet Bold"/>
                <a:sym typeface="Garet Bold"/>
              </a:rPr>
              <a:t>When booking, users can choose between an ofice visit, telehealth appointment, or even an in-house appointment</a:t>
            </a:r>
          </a:p>
          <a:p>
            <a:pPr algn="l">
              <a:lnSpc>
                <a:spcPts val="3249"/>
              </a:lnSpc>
            </a:pPr>
          </a:p>
          <a:p>
            <a:pPr algn="l" marL="539748" indent="-269874" lvl="1">
              <a:lnSpc>
                <a:spcPts val="3249"/>
              </a:lnSpc>
              <a:buFont typeface="Arial"/>
              <a:buChar char="•"/>
            </a:pPr>
            <a:r>
              <a:rPr lang="en-US" b="true" sz="2499">
                <a:solidFill>
                  <a:srgbClr val="000000"/>
                </a:solidFill>
                <a:latin typeface="Garet Bold"/>
                <a:ea typeface="Garet Bold"/>
                <a:cs typeface="Garet Bold"/>
                <a:sym typeface="Garet Bold"/>
              </a:rPr>
              <a:t>By paying a reduced rate of the office’s cancelation fee, users can “bump” their appointment one day into the future (more than likely at a different time of day)</a:t>
            </a:r>
          </a:p>
          <a:p>
            <a:pPr algn="l">
              <a:lnSpc>
                <a:spcPts val="3249"/>
              </a:lnSpc>
            </a:pPr>
          </a:p>
          <a:p>
            <a:pPr algn="l" marL="539748" indent="-269874" lvl="1">
              <a:lnSpc>
                <a:spcPts val="3249"/>
              </a:lnSpc>
              <a:buFont typeface="Arial"/>
              <a:buChar char="•"/>
            </a:pPr>
            <a:r>
              <a:rPr lang="en-US" b="true" sz="2499">
                <a:solidFill>
                  <a:srgbClr val="000000"/>
                </a:solidFill>
                <a:latin typeface="Garet Bold"/>
                <a:ea typeface="Garet Bold"/>
                <a:cs typeface="Garet Bold"/>
                <a:sym typeface="Garet Bold"/>
              </a:rPr>
              <a:t>This helps to make the user’s schedule more flexible and bring the safety to them.</a:t>
            </a:r>
          </a:p>
        </p:txBody>
      </p:sp>
      <p:grpSp>
        <p:nvGrpSpPr>
          <p:cNvPr name="Group 10" id="10"/>
          <p:cNvGrpSpPr/>
          <p:nvPr/>
        </p:nvGrpSpPr>
        <p:grpSpPr>
          <a:xfrm rot="-10800000">
            <a:off x="14173200" y="5143500"/>
            <a:ext cx="3086100" cy="2960137"/>
            <a:chOff x="0" y="0"/>
            <a:chExt cx="622300" cy="596900"/>
          </a:xfrm>
        </p:grpSpPr>
        <p:sp>
          <p:nvSpPr>
            <p:cNvPr name="Freeform 11" id="11"/>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2B2B2B"/>
            </a:solidFill>
          </p:spPr>
        </p:sp>
        <p:sp>
          <p:nvSpPr>
            <p:cNvPr name="TextBox 12" id="12"/>
            <p:cNvSpPr txBox="true"/>
            <p:nvPr/>
          </p:nvSpPr>
          <p:spPr>
            <a:xfrm>
              <a:off x="0" y="98425"/>
              <a:ext cx="622300" cy="371475"/>
            </a:xfrm>
            <a:prstGeom prst="rect">
              <a:avLst/>
            </a:prstGeom>
          </p:spPr>
          <p:txBody>
            <a:bodyPr anchor="ctr" rtlCol="false" tIns="50800" lIns="50800" bIns="50800" rIns="50800"/>
            <a:lstStyle/>
            <a:p>
              <a:pPr algn="ctr">
                <a:lnSpc>
                  <a:spcPts val="3249"/>
                </a:lnSpc>
              </a:pPr>
            </a:p>
          </p:txBody>
        </p:sp>
      </p:grpSp>
    </p:spTree>
  </p:cSld>
  <p:clrMapOvr>
    <a:masterClrMapping/>
  </p:clrMapOvr>
  <p:transition spd="slow">
    <p:cover dir="ru"/>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477365" y="397455"/>
            <a:ext cx="16642805" cy="7884529"/>
          </a:xfrm>
          <a:custGeom>
            <a:avLst/>
            <a:gdLst/>
            <a:ahLst/>
            <a:cxnLst/>
            <a:rect r="r" b="b" t="t" l="l"/>
            <a:pathLst>
              <a:path h="7884529" w="16642805">
                <a:moveTo>
                  <a:pt x="0" y="0"/>
                </a:moveTo>
                <a:lnTo>
                  <a:pt x="16642805" y="0"/>
                </a:lnTo>
                <a:lnTo>
                  <a:pt x="16642805" y="7884529"/>
                </a:lnTo>
                <a:lnTo>
                  <a:pt x="0" y="7884529"/>
                </a:lnTo>
                <a:lnTo>
                  <a:pt x="0" y="0"/>
                </a:lnTo>
                <a:close/>
              </a:path>
            </a:pathLst>
          </a:custGeom>
          <a:blipFill>
            <a:blip r:embed="rId3"/>
            <a:stretch>
              <a:fillRect l="0" t="0" r="0" b="0"/>
            </a:stretch>
          </a:blipFill>
        </p:spPr>
      </p:sp>
      <p:sp>
        <p:nvSpPr>
          <p:cNvPr name="TextBox 6" id="6"/>
          <p:cNvSpPr txBox="true"/>
          <p:nvPr/>
        </p:nvSpPr>
        <p:spPr>
          <a:xfrm rot="0">
            <a:off x="11778624" y="683473"/>
            <a:ext cx="7203393" cy="785704"/>
          </a:xfrm>
          <a:prstGeom prst="rect">
            <a:avLst/>
          </a:prstGeom>
        </p:spPr>
        <p:txBody>
          <a:bodyPr anchor="t" rtlCol="false" tIns="0" lIns="0" bIns="0" rIns="0">
            <a:spAutoFit/>
          </a:bodyPr>
          <a:lstStyle/>
          <a:p>
            <a:pPr algn="ctr">
              <a:lnSpc>
                <a:spcPts val="5808"/>
              </a:lnSpc>
            </a:pPr>
            <a:r>
              <a:rPr lang="en-US" sz="5808" spc="-458">
                <a:solidFill>
                  <a:srgbClr val="000000"/>
                </a:solidFill>
                <a:latin typeface="Archivo Black"/>
                <a:ea typeface="Archivo Black"/>
                <a:cs typeface="Archivo Black"/>
                <a:sym typeface="Archivo Black"/>
              </a:rPr>
              <a:t>Site Map</a:t>
            </a:r>
          </a:p>
        </p:txBody>
      </p:sp>
      <p:sp>
        <p:nvSpPr>
          <p:cNvPr name="TextBox 7" id="7"/>
          <p:cNvSpPr txBox="true"/>
          <p:nvPr/>
        </p:nvSpPr>
        <p:spPr>
          <a:xfrm rot="0">
            <a:off x="12548905" y="1680778"/>
            <a:ext cx="5468737" cy="1331214"/>
          </a:xfrm>
          <a:prstGeom prst="rect">
            <a:avLst/>
          </a:prstGeom>
        </p:spPr>
        <p:txBody>
          <a:bodyPr anchor="t" rtlCol="false" tIns="0" lIns="0" bIns="0" rIns="0">
            <a:spAutoFit/>
          </a:bodyPr>
          <a:lstStyle/>
          <a:p>
            <a:pPr algn="l">
              <a:lnSpc>
                <a:spcPts val="2688"/>
              </a:lnSpc>
            </a:pPr>
            <a:r>
              <a:rPr lang="en-US" sz="2100">
                <a:solidFill>
                  <a:srgbClr val="000000"/>
                </a:solidFill>
                <a:latin typeface="Garet"/>
                <a:ea typeface="Garet"/>
                <a:cs typeface="Garet"/>
                <a:sym typeface="Garet"/>
              </a:rPr>
              <a:t>This site map aims to plan out and organize both the patient end and the doctor end of my solution. Userflows have been highlighted in red and green.</a:t>
            </a:r>
          </a:p>
        </p:txBody>
      </p:sp>
    </p:spTree>
  </p:cSld>
  <p:clrMapOvr>
    <a:masterClrMapping/>
  </p:clrMapOvr>
  <p:transition spd="slow">
    <p:cover dir="ru"/>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8363775" y="1465954"/>
            <a:ext cx="9521155" cy="7355092"/>
          </a:xfrm>
          <a:custGeom>
            <a:avLst/>
            <a:gdLst/>
            <a:ahLst/>
            <a:cxnLst/>
            <a:rect r="r" b="b" t="t" l="l"/>
            <a:pathLst>
              <a:path h="7355092" w="9521155">
                <a:moveTo>
                  <a:pt x="0" y="0"/>
                </a:moveTo>
                <a:lnTo>
                  <a:pt x="9521155" y="0"/>
                </a:lnTo>
                <a:lnTo>
                  <a:pt x="9521155" y="7355092"/>
                </a:lnTo>
                <a:lnTo>
                  <a:pt x="0" y="7355092"/>
                </a:lnTo>
                <a:lnTo>
                  <a:pt x="0" y="0"/>
                </a:lnTo>
                <a:close/>
              </a:path>
            </a:pathLst>
          </a:custGeom>
          <a:blipFill>
            <a:blip r:embed="rId3"/>
            <a:stretch>
              <a:fillRect l="0" t="0" r="0" b="0"/>
            </a:stretch>
          </a:blipFill>
        </p:spPr>
      </p:sp>
      <p:sp>
        <p:nvSpPr>
          <p:cNvPr name="TextBox 4" id="4"/>
          <p:cNvSpPr txBox="true"/>
          <p:nvPr/>
        </p:nvSpPr>
        <p:spPr>
          <a:xfrm rot="0">
            <a:off x="1067082" y="1009650"/>
            <a:ext cx="8115300" cy="2305050"/>
          </a:xfrm>
          <a:prstGeom prst="rect">
            <a:avLst/>
          </a:prstGeom>
        </p:spPr>
        <p:txBody>
          <a:bodyPr anchor="t" rtlCol="false" tIns="0" lIns="0" bIns="0" rIns="0">
            <a:spAutoFit/>
          </a:bodyPr>
          <a:lstStyle/>
          <a:p>
            <a:pPr algn="l">
              <a:lnSpc>
                <a:spcPts val="9000"/>
              </a:lnSpc>
            </a:pPr>
            <a:r>
              <a:rPr lang="en-US" sz="7500">
                <a:solidFill>
                  <a:srgbClr val="000000"/>
                </a:solidFill>
                <a:latin typeface="Archivo Black"/>
                <a:ea typeface="Archivo Black"/>
                <a:cs typeface="Archivo Black"/>
                <a:sym typeface="Archivo Black"/>
              </a:rPr>
              <a:t>Customer</a:t>
            </a:r>
          </a:p>
          <a:p>
            <a:pPr algn="l">
              <a:lnSpc>
                <a:spcPts val="9000"/>
              </a:lnSpc>
            </a:pPr>
            <a:r>
              <a:rPr lang="en-US" sz="7500">
                <a:solidFill>
                  <a:srgbClr val="000000"/>
                </a:solidFill>
                <a:latin typeface="Archivo Black"/>
                <a:ea typeface="Archivo Black"/>
                <a:cs typeface="Archivo Black"/>
                <a:sym typeface="Archivo Black"/>
              </a:rPr>
              <a:t>Journey Map</a:t>
            </a:r>
          </a:p>
        </p:txBody>
      </p:sp>
      <p:sp>
        <p:nvSpPr>
          <p:cNvPr name="TextBox 5" id="5"/>
          <p:cNvSpPr txBox="true"/>
          <p:nvPr/>
        </p:nvSpPr>
        <p:spPr>
          <a:xfrm rot="0">
            <a:off x="1067082" y="3508608"/>
            <a:ext cx="6882109" cy="664464"/>
          </a:xfrm>
          <a:prstGeom prst="rect">
            <a:avLst/>
          </a:prstGeom>
        </p:spPr>
        <p:txBody>
          <a:bodyPr anchor="t" rtlCol="false" tIns="0" lIns="0" bIns="0" rIns="0">
            <a:spAutoFit/>
          </a:bodyPr>
          <a:lstStyle/>
          <a:p>
            <a:pPr algn="l">
              <a:lnSpc>
                <a:spcPts val="2688"/>
              </a:lnSpc>
            </a:pPr>
            <a:r>
              <a:rPr lang="en-US" sz="2100">
                <a:solidFill>
                  <a:srgbClr val="000000"/>
                </a:solidFill>
                <a:latin typeface="Garet"/>
                <a:ea typeface="Garet"/>
                <a:cs typeface="Garet"/>
                <a:sym typeface="Garet"/>
              </a:rPr>
              <a:t>I created a detailed diagrammatic description of the user’s journey through my system.</a:t>
            </a:r>
          </a:p>
        </p:txBody>
      </p:sp>
    </p:spTree>
  </p:cSld>
  <p:clrMapOvr>
    <a:masterClrMapping/>
  </p:clrMapOvr>
  <p:transition spd="slow">
    <p:cover dir="ru"/>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319320" y="456939"/>
            <a:ext cx="9540687" cy="9540687"/>
          </a:xfrm>
          <a:custGeom>
            <a:avLst/>
            <a:gdLst/>
            <a:ahLst/>
            <a:cxnLst/>
            <a:rect r="r" b="b" t="t" l="l"/>
            <a:pathLst>
              <a:path h="9540687" w="9540687">
                <a:moveTo>
                  <a:pt x="0" y="0"/>
                </a:moveTo>
                <a:lnTo>
                  <a:pt x="9540687" y="0"/>
                </a:lnTo>
                <a:lnTo>
                  <a:pt x="9540687" y="9540687"/>
                </a:lnTo>
                <a:lnTo>
                  <a:pt x="0" y="9540687"/>
                </a:lnTo>
                <a:lnTo>
                  <a:pt x="0" y="0"/>
                </a:lnTo>
                <a:close/>
              </a:path>
            </a:pathLst>
          </a:custGeom>
          <a:blipFill>
            <a:blip r:embed="rId3"/>
            <a:stretch>
              <a:fillRect l="0" t="0" r="0" b="0"/>
            </a:stretch>
          </a:blipFill>
        </p:spPr>
      </p:sp>
      <p:sp>
        <p:nvSpPr>
          <p:cNvPr name="AutoShape 4" id="4"/>
          <p:cNvSpPr/>
          <p:nvPr/>
        </p:nvSpPr>
        <p:spPr>
          <a:xfrm>
            <a:off x="2690567" y="3336716"/>
            <a:ext cx="798179" cy="0"/>
          </a:xfrm>
          <a:prstGeom prst="line">
            <a:avLst/>
          </a:prstGeom>
          <a:ln cap="flat" w="38100">
            <a:solidFill>
              <a:srgbClr val="FF3131">
                <a:alpha val="67843"/>
              </a:srgbClr>
            </a:solidFill>
            <a:prstDash val="solid"/>
            <a:headEnd type="none" len="sm" w="sm"/>
            <a:tailEnd type="none" len="sm" w="sm"/>
          </a:ln>
        </p:spPr>
      </p:sp>
      <p:sp>
        <p:nvSpPr>
          <p:cNvPr name="AutoShape 5" id="5"/>
          <p:cNvSpPr/>
          <p:nvPr/>
        </p:nvSpPr>
        <p:spPr>
          <a:xfrm flipV="true">
            <a:off x="3469696" y="3336716"/>
            <a:ext cx="0" cy="798179"/>
          </a:xfrm>
          <a:prstGeom prst="line">
            <a:avLst/>
          </a:prstGeom>
          <a:ln cap="flat" w="38100">
            <a:solidFill>
              <a:srgbClr val="FF3131">
                <a:alpha val="67843"/>
              </a:srgbClr>
            </a:solidFill>
            <a:prstDash val="solid"/>
            <a:headEnd type="none" len="sm" w="sm"/>
            <a:tailEnd type="none" len="sm" w="sm"/>
          </a:ln>
        </p:spPr>
      </p:sp>
      <p:sp>
        <p:nvSpPr>
          <p:cNvPr name="AutoShape 6" id="6"/>
          <p:cNvSpPr/>
          <p:nvPr/>
        </p:nvSpPr>
        <p:spPr>
          <a:xfrm flipV="true">
            <a:off x="2709617" y="3336716"/>
            <a:ext cx="0" cy="798179"/>
          </a:xfrm>
          <a:prstGeom prst="line">
            <a:avLst/>
          </a:prstGeom>
          <a:ln cap="flat" w="38100">
            <a:solidFill>
              <a:srgbClr val="FF3131">
                <a:alpha val="67843"/>
              </a:srgbClr>
            </a:solidFill>
            <a:prstDash val="solid"/>
            <a:headEnd type="none" len="sm" w="sm"/>
            <a:tailEnd type="none" len="sm" w="sm"/>
          </a:ln>
        </p:spPr>
      </p:sp>
      <p:sp>
        <p:nvSpPr>
          <p:cNvPr name="AutoShape 7" id="7"/>
          <p:cNvSpPr/>
          <p:nvPr/>
        </p:nvSpPr>
        <p:spPr>
          <a:xfrm>
            <a:off x="2690567" y="4134895"/>
            <a:ext cx="798179" cy="0"/>
          </a:xfrm>
          <a:prstGeom prst="line">
            <a:avLst/>
          </a:prstGeom>
          <a:ln cap="flat" w="38100">
            <a:solidFill>
              <a:srgbClr val="FF3131">
                <a:alpha val="67843"/>
              </a:srgbClr>
            </a:solidFill>
            <a:prstDash val="solid"/>
            <a:headEnd type="none" len="sm" w="sm"/>
            <a:tailEnd type="none" len="sm" w="sm"/>
          </a:ln>
        </p:spPr>
      </p:sp>
      <p:sp>
        <p:nvSpPr>
          <p:cNvPr name="Freeform 8" id="8"/>
          <p:cNvSpPr/>
          <p:nvPr/>
        </p:nvSpPr>
        <p:spPr>
          <a:xfrm>
            <a:off x="3488746" y="3704708"/>
            <a:ext cx="2170957" cy="509829"/>
          </a:xfrm>
          <a:custGeom>
            <a:avLst/>
            <a:gdLst/>
            <a:ahLst/>
            <a:cxnLst/>
            <a:rect r="r" b="b" t="t" l="l"/>
            <a:pathLst>
              <a:path h="509829" w="2170957">
                <a:moveTo>
                  <a:pt x="0" y="0"/>
                </a:moveTo>
                <a:lnTo>
                  <a:pt x="1942358" y="0"/>
                </a:lnTo>
                <a:cubicBezTo>
                  <a:pt x="2002986" y="0"/>
                  <a:pt x="2061132" y="24085"/>
                  <a:pt x="2104003" y="66955"/>
                </a:cubicBezTo>
                <a:cubicBezTo>
                  <a:pt x="2146873" y="109826"/>
                  <a:pt x="2170958" y="167972"/>
                  <a:pt x="2170958" y="228600"/>
                </a:cubicBezTo>
                <a:lnTo>
                  <a:pt x="2170958" y="509829"/>
                </a:lnTo>
              </a:path>
            </a:pathLst>
          </a:custGeom>
          <a:ln cap="flat" w="38100">
            <a:solidFill>
              <a:srgbClr val="FF3131">
                <a:alpha val="67843"/>
              </a:srgbClr>
            </a:solidFill>
            <a:prstDash val="solid"/>
            <a:headEnd type="none" len="sm" w="sm"/>
            <a:tailEnd type="none" len="sm" w="sm"/>
          </a:ln>
        </p:spPr>
      </p:sp>
      <p:sp>
        <p:nvSpPr>
          <p:cNvPr name="AutoShape 9" id="9"/>
          <p:cNvSpPr/>
          <p:nvPr/>
        </p:nvSpPr>
        <p:spPr>
          <a:xfrm>
            <a:off x="5290416" y="4227526"/>
            <a:ext cx="798179" cy="0"/>
          </a:xfrm>
          <a:prstGeom prst="line">
            <a:avLst/>
          </a:prstGeom>
          <a:ln cap="flat" w="38100">
            <a:solidFill>
              <a:srgbClr val="FF3131">
                <a:alpha val="67843"/>
              </a:srgbClr>
            </a:solidFill>
            <a:prstDash val="solid"/>
            <a:headEnd type="none" len="sm" w="sm"/>
            <a:tailEnd type="none" len="sm" w="sm"/>
          </a:ln>
        </p:spPr>
      </p:sp>
      <p:sp>
        <p:nvSpPr>
          <p:cNvPr name="AutoShape 10" id="10"/>
          <p:cNvSpPr/>
          <p:nvPr/>
        </p:nvSpPr>
        <p:spPr>
          <a:xfrm flipV="true">
            <a:off x="6069545" y="4227526"/>
            <a:ext cx="0" cy="588092"/>
          </a:xfrm>
          <a:prstGeom prst="line">
            <a:avLst/>
          </a:prstGeom>
          <a:ln cap="flat" w="38100">
            <a:solidFill>
              <a:srgbClr val="FF3131">
                <a:alpha val="67843"/>
              </a:srgbClr>
            </a:solidFill>
            <a:prstDash val="solid"/>
            <a:headEnd type="none" len="sm" w="sm"/>
            <a:tailEnd type="none" len="sm" w="sm"/>
          </a:ln>
        </p:spPr>
      </p:sp>
      <p:sp>
        <p:nvSpPr>
          <p:cNvPr name="AutoShape 11" id="11"/>
          <p:cNvSpPr/>
          <p:nvPr/>
        </p:nvSpPr>
        <p:spPr>
          <a:xfrm flipV="true">
            <a:off x="5309466" y="4227526"/>
            <a:ext cx="0" cy="588092"/>
          </a:xfrm>
          <a:prstGeom prst="line">
            <a:avLst/>
          </a:prstGeom>
          <a:ln cap="flat" w="38100">
            <a:solidFill>
              <a:srgbClr val="FF3131">
                <a:alpha val="67843"/>
              </a:srgbClr>
            </a:solidFill>
            <a:prstDash val="solid"/>
            <a:headEnd type="none" len="sm" w="sm"/>
            <a:tailEnd type="none" len="sm" w="sm"/>
          </a:ln>
        </p:spPr>
      </p:sp>
      <p:sp>
        <p:nvSpPr>
          <p:cNvPr name="AutoShape 12" id="12"/>
          <p:cNvSpPr/>
          <p:nvPr/>
        </p:nvSpPr>
        <p:spPr>
          <a:xfrm>
            <a:off x="5290416" y="4815617"/>
            <a:ext cx="798179" cy="0"/>
          </a:xfrm>
          <a:prstGeom prst="line">
            <a:avLst/>
          </a:prstGeom>
          <a:ln cap="flat" w="38100">
            <a:solidFill>
              <a:srgbClr val="FF3131">
                <a:alpha val="67843"/>
              </a:srgbClr>
            </a:solidFill>
            <a:prstDash val="solid"/>
            <a:headEnd type="none" len="sm" w="sm"/>
            <a:tailEnd type="none" len="sm" w="sm"/>
          </a:ln>
        </p:spPr>
      </p:sp>
      <p:sp>
        <p:nvSpPr>
          <p:cNvPr name="Freeform 13" id="13"/>
          <p:cNvSpPr/>
          <p:nvPr/>
        </p:nvSpPr>
        <p:spPr>
          <a:xfrm>
            <a:off x="6069545" y="1469206"/>
            <a:ext cx="302442" cy="2969899"/>
          </a:xfrm>
          <a:custGeom>
            <a:avLst/>
            <a:gdLst/>
            <a:ahLst/>
            <a:cxnLst/>
            <a:rect r="r" b="b" t="t" l="l"/>
            <a:pathLst>
              <a:path h="2969899" w="302442">
                <a:moveTo>
                  <a:pt x="0" y="2969899"/>
                </a:moveTo>
                <a:lnTo>
                  <a:pt x="50138" y="2969899"/>
                </a:lnTo>
                <a:cubicBezTo>
                  <a:pt x="77828" y="2969899"/>
                  <a:pt x="100275" y="2947451"/>
                  <a:pt x="100275" y="2919761"/>
                </a:cubicBezTo>
                <a:lnTo>
                  <a:pt x="100275" y="101083"/>
                </a:lnTo>
                <a:cubicBezTo>
                  <a:pt x="100275" y="45256"/>
                  <a:pt x="145532" y="0"/>
                  <a:pt x="201359" y="0"/>
                </a:cubicBezTo>
                <a:lnTo>
                  <a:pt x="302442" y="0"/>
                </a:lnTo>
              </a:path>
            </a:pathLst>
          </a:custGeom>
          <a:ln cap="flat" w="38100">
            <a:solidFill>
              <a:srgbClr val="FF3131">
                <a:alpha val="67843"/>
              </a:srgbClr>
            </a:solidFill>
            <a:prstDash val="solid"/>
            <a:headEnd type="none" len="sm" w="sm"/>
            <a:tailEnd type="none" len="sm" w="sm"/>
          </a:ln>
        </p:spPr>
      </p:sp>
      <p:sp>
        <p:nvSpPr>
          <p:cNvPr name="AutoShape 14" id="14"/>
          <p:cNvSpPr/>
          <p:nvPr/>
        </p:nvSpPr>
        <p:spPr>
          <a:xfrm>
            <a:off x="6371987" y="1343178"/>
            <a:ext cx="1956046" cy="0"/>
          </a:xfrm>
          <a:prstGeom prst="line">
            <a:avLst/>
          </a:prstGeom>
          <a:ln cap="flat" w="38100">
            <a:solidFill>
              <a:srgbClr val="FF3131">
                <a:alpha val="67843"/>
              </a:srgbClr>
            </a:solidFill>
            <a:prstDash val="solid"/>
            <a:headEnd type="none" len="sm" w="sm"/>
            <a:tailEnd type="none" len="sm" w="sm"/>
          </a:ln>
        </p:spPr>
      </p:sp>
      <p:sp>
        <p:nvSpPr>
          <p:cNvPr name="AutoShape 15" id="15"/>
          <p:cNvSpPr/>
          <p:nvPr/>
        </p:nvSpPr>
        <p:spPr>
          <a:xfrm flipV="true">
            <a:off x="8308984" y="1343178"/>
            <a:ext cx="0" cy="294940"/>
          </a:xfrm>
          <a:prstGeom prst="line">
            <a:avLst/>
          </a:prstGeom>
          <a:ln cap="flat" w="38100">
            <a:solidFill>
              <a:srgbClr val="FF3131">
                <a:alpha val="67843"/>
              </a:srgbClr>
            </a:solidFill>
            <a:prstDash val="solid"/>
            <a:headEnd type="none" len="sm" w="sm"/>
            <a:tailEnd type="none" len="sm" w="sm"/>
          </a:ln>
        </p:spPr>
      </p:sp>
      <p:sp>
        <p:nvSpPr>
          <p:cNvPr name="AutoShape 16" id="16"/>
          <p:cNvSpPr/>
          <p:nvPr/>
        </p:nvSpPr>
        <p:spPr>
          <a:xfrm flipV="true">
            <a:off x="6391037" y="1343178"/>
            <a:ext cx="0" cy="294940"/>
          </a:xfrm>
          <a:prstGeom prst="line">
            <a:avLst/>
          </a:prstGeom>
          <a:ln cap="flat" w="38100">
            <a:solidFill>
              <a:srgbClr val="FF3131">
                <a:alpha val="67843"/>
              </a:srgbClr>
            </a:solidFill>
            <a:prstDash val="solid"/>
            <a:headEnd type="none" len="sm" w="sm"/>
            <a:tailEnd type="none" len="sm" w="sm"/>
          </a:ln>
        </p:spPr>
      </p:sp>
      <p:sp>
        <p:nvSpPr>
          <p:cNvPr name="AutoShape 17" id="17"/>
          <p:cNvSpPr/>
          <p:nvPr/>
        </p:nvSpPr>
        <p:spPr>
          <a:xfrm>
            <a:off x="6371987" y="1638118"/>
            <a:ext cx="1956046" cy="0"/>
          </a:xfrm>
          <a:prstGeom prst="line">
            <a:avLst/>
          </a:prstGeom>
          <a:ln cap="flat" w="38100">
            <a:solidFill>
              <a:srgbClr val="FF3131">
                <a:alpha val="67843"/>
              </a:srgbClr>
            </a:solidFill>
            <a:prstDash val="solid"/>
            <a:headEnd type="none" len="sm" w="sm"/>
            <a:tailEnd type="none" len="sm" w="sm"/>
          </a:ln>
        </p:spPr>
      </p:sp>
      <p:sp>
        <p:nvSpPr>
          <p:cNvPr name="AutoShape 18" id="18"/>
          <p:cNvSpPr/>
          <p:nvPr/>
        </p:nvSpPr>
        <p:spPr>
          <a:xfrm>
            <a:off x="6371987" y="1657168"/>
            <a:ext cx="1956046" cy="0"/>
          </a:xfrm>
          <a:prstGeom prst="line">
            <a:avLst/>
          </a:prstGeom>
          <a:ln cap="flat" w="38100">
            <a:solidFill>
              <a:srgbClr val="FF3131">
                <a:alpha val="67843"/>
              </a:srgbClr>
            </a:solidFill>
            <a:prstDash val="solid"/>
            <a:headEnd type="none" len="sm" w="sm"/>
            <a:tailEnd type="none" len="sm" w="sm"/>
          </a:ln>
        </p:spPr>
      </p:sp>
      <p:sp>
        <p:nvSpPr>
          <p:cNvPr name="AutoShape 19" id="19"/>
          <p:cNvSpPr/>
          <p:nvPr/>
        </p:nvSpPr>
        <p:spPr>
          <a:xfrm flipV="true">
            <a:off x="8308984" y="1657168"/>
            <a:ext cx="0" cy="224774"/>
          </a:xfrm>
          <a:prstGeom prst="line">
            <a:avLst/>
          </a:prstGeom>
          <a:ln cap="flat" w="38100">
            <a:solidFill>
              <a:srgbClr val="FF3131">
                <a:alpha val="67843"/>
              </a:srgbClr>
            </a:solidFill>
            <a:prstDash val="solid"/>
            <a:headEnd type="none" len="sm" w="sm"/>
            <a:tailEnd type="none" len="sm" w="sm"/>
          </a:ln>
        </p:spPr>
      </p:sp>
      <p:sp>
        <p:nvSpPr>
          <p:cNvPr name="AutoShape 20" id="20"/>
          <p:cNvSpPr/>
          <p:nvPr/>
        </p:nvSpPr>
        <p:spPr>
          <a:xfrm flipV="true">
            <a:off x="6391037" y="1657168"/>
            <a:ext cx="0" cy="224774"/>
          </a:xfrm>
          <a:prstGeom prst="line">
            <a:avLst/>
          </a:prstGeom>
          <a:ln cap="flat" w="38100">
            <a:solidFill>
              <a:srgbClr val="FF3131">
                <a:alpha val="67843"/>
              </a:srgbClr>
            </a:solidFill>
            <a:prstDash val="solid"/>
            <a:headEnd type="none" len="sm" w="sm"/>
            <a:tailEnd type="none" len="sm" w="sm"/>
          </a:ln>
        </p:spPr>
      </p:sp>
      <p:sp>
        <p:nvSpPr>
          <p:cNvPr name="AutoShape 21" id="21"/>
          <p:cNvSpPr/>
          <p:nvPr/>
        </p:nvSpPr>
        <p:spPr>
          <a:xfrm>
            <a:off x="6371987" y="1881941"/>
            <a:ext cx="1956046" cy="0"/>
          </a:xfrm>
          <a:prstGeom prst="line">
            <a:avLst/>
          </a:prstGeom>
          <a:ln cap="flat" w="38100">
            <a:solidFill>
              <a:srgbClr val="FF3131">
                <a:alpha val="67843"/>
              </a:srgbClr>
            </a:solidFill>
            <a:prstDash val="solid"/>
            <a:headEnd type="none" len="sm" w="sm"/>
            <a:tailEnd type="none" len="sm" w="sm"/>
          </a:ln>
        </p:spPr>
      </p:sp>
      <p:sp>
        <p:nvSpPr>
          <p:cNvPr name="Freeform 22" id="22"/>
          <p:cNvSpPr/>
          <p:nvPr/>
        </p:nvSpPr>
        <p:spPr>
          <a:xfrm>
            <a:off x="8321532" y="1449808"/>
            <a:ext cx="333597" cy="296233"/>
          </a:xfrm>
          <a:custGeom>
            <a:avLst/>
            <a:gdLst/>
            <a:ahLst/>
            <a:cxnLst/>
            <a:rect r="r" b="b" t="t" l="l"/>
            <a:pathLst>
              <a:path h="296233" w="333597">
                <a:moveTo>
                  <a:pt x="6502" y="296233"/>
                </a:moveTo>
                <a:lnTo>
                  <a:pt x="185480" y="296233"/>
                </a:lnTo>
                <a:cubicBezTo>
                  <a:pt x="267283" y="296233"/>
                  <a:pt x="333596" y="229919"/>
                  <a:pt x="333596" y="148116"/>
                </a:cubicBezTo>
                <a:lnTo>
                  <a:pt x="333596" y="148116"/>
                </a:lnTo>
                <a:cubicBezTo>
                  <a:pt x="333596" y="108834"/>
                  <a:pt x="317991" y="71160"/>
                  <a:pt x="290214" y="43382"/>
                </a:cubicBezTo>
                <a:cubicBezTo>
                  <a:pt x="262437" y="15605"/>
                  <a:pt x="224763" y="0"/>
                  <a:pt x="185480" y="0"/>
                </a:cubicBezTo>
                <a:lnTo>
                  <a:pt x="0" y="0"/>
                </a:lnTo>
              </a:path>
            </a:pathLst>
          </a:custGeom>
          <a:ln cap="flat" w="38100">
            <a:solidFill>
              <a:srgbClr val="FF3131">
                <a:alpha val="67843"/>
              </a:srgbClr>
            </a:solidFill>
            <a:prstDash val="solid"/>
            <a:headEnd type="none" len="sm" w="sm"/>
            <a:tailEnd type="none" len="sm" w="sm"/>
          </a:ln>
        </p:spPr>
      </p:sp>
      <p:sp>
        <p:nvSpPr>
          <p:cNvPr name="Freeform 23" id="23"/>
          <p:cNvSpPr/>
          <p:nvPr/>
        </p:nvSpPr>
        <p:spPr>
          <a:xfrm>
            <a:off x="3704423" y="1881941"/>
            <a:ext cx="2767839" cy="3300546"/>
          </a:xfrm>
          <a:custGeom>
            <a:avLst/>
            <a:gdLst/>
            <a:ahLst/>
            <a:cxnLst/>
            <a:rect r="r" b="b" t="t" l="l"/>
            <a:pathLst>
              <a:path h="3300546" w="2767839">
                <a:moveTo>
                  <a:pt x="0" y="3300547"/>
                </a:moveTo>
                <a:lnTo>
                  <a:pt x="2539239" y="3300547"/>
                </a:lnTo>
                <a:cubicBezTo>
                  <a:pt x="2599868" y="3300547"/>
                  <a:pt x="2658013" y="3276462"/>
                  <a:pt x="2700884" y="3233591"/>
                </a:cubicBezTo>
                <a:cubicBezTo>
                  <a:pt x="2743755" y="3190720"/>
                  <a:pt x="2767839" y="3132575"/>
                  <a:pt x="2767839" y="3071947"/>
                </a:cubicBezTo>
                <a:lnTo>
                  <a:pt x="2767839" y="0"/>
                </a:lnTo>
              </a:path>
            </a:pathLst>
          </a:custGeom>
          <a:ln cap="flat" w="38100">
            <a:solidFill>
              <a:srgbClr val="FF3131">
                <a:alpha val="67843"/>
              </a:srgbClr>
            </a:solidFill>
            <a:prstDash val="solid"/>
            <a:headEnd type="none" len="sm" w="sm"/>
            <a:tailEnd type="none" len="sm" w="sm"/>
          </a:ln>
        </p:spPr>
      </p:sp>
      <p:sp>
        <p:nvSpPr>
          <p:cNvPr name="AutoShape 24" id="24"/>
          <p:cNvSpPr/>
          <p:nvPr/>
        </p:nvSpPr>
        <p:spPr>
          <a:xfrm>
            <a:off x="1587102" y="7711388"/>
            <a:ext cx="2049894" cy="0"/>
          </a:xfrm>
          <a:prstGeom prst="line">
            <a:avLst/>
          </a:prstGeom>
          <a:ln cap="flat" w="47625">
            <a:solidFill>
              <a:srgbClr val="FF3131">
                <a:alpha val="67843"/>
              </a:srgbClr>
            </a:solidFill>
            <a:prstDash val="solid"/>
            <a:headEnd type="none" len="sm" w="sm"/>
            <a:tailEnd type="none" len="sm" w="sm"/>
          </a:ln>
        </p:spPr>
      </p:sp>
      <p:sp>
        <p:nvSpPr>
          <p:cNvPr name="AutoShape 25" id="25"/>
          <p:cNvSpPr/>
          <p:nvPr/>
        </p:nvSpPr>
        <p:spPr>
          <a:xfrm flipV="true">
            <a:off x="3613183" y="7711388"/>
            <a:ext cx="0" cy="493973"/>
          </a:xfrm>
          <a:prstGeom prst="line">
            <a:avLst/>
          </a:prstGeom>
          <a:ln cap="flat" w="47625">
            <a:solidFill>
              <a:srgbClr val="FF3131">
                <a:alpha val="67843"/>
              </a:srgbClr>
            </a:solidFill>
            <a:prstDash val="solid"/>
            <a:headEnd type="none" len="sm" w="sm"/>
            <a:tailEnd type="none" len="sm" w="sm"/>
          </a:ln>
        </p:spPr>
      </p:sp>
      <p:sp>
        <p:nvSpPr>
          <p:cNvPr name="AutoShape 26" id="26"/>
          <p:cNvSpPr/>
          <p:nvPr/>
        </p:nvSpPr>
        <p:spPr>
          <a:xfrm flipV="true">
            <a:off x="1610914" y="7711388"/>
            <a:ext cx="0" cy="493973"/>
          </a:xfrm>
          <a:prstGeom prst="line">
            <a:avLst/>
          </a:prstGeom>
          <a:ln cap="flat" w="47625">
            <a:solidFill>
              <a:srgbClr val="FF3131">
                <a:alpha val="67843"/>
              </a:srgbClr>
            </a:solidFill>
            <a:prstDash val="solid"/>
            <a:headEnd type="none" len="sm" w="sm"/>
            <a:tailEnd type="none" len="sm" w="sm"/>
          </a:ln>
        </p:spPr>
      </p:sp>
      <p:sp>
        <p:nvSpPr>
          <p:cNvPr name="AutoShape 27" id="27"/>
          <p:cNvSpPr/>
          <p:nvPr/>
        </p:nvSpPr>
        <p:spPr>
          <a:xfrm>
            <a:off x="1587102" y="8205361"/>
            <a:ext cx="2049894" cy="0"/>
          </a:xfrm>
          <a:prstGeom prst="line">
            <a:avLst/>
          </a:prstGeom>
          <a:ln cap="flat" w="47625">
            <a:solidFill>
              <a:srgbClr val="FF3131">
                <a:alpha val="67843"/>
              </a:srgbClr>
            </a:solidFill>
            <a:prstDash val="solid"/>
            <a:headEnd type="none" len="sm" w="sm"/>
            <a:tailEnd type="none" len="sm" w="sm"/>
          </a:ln>
        </p:spPr>
      </p:sp>
      <p:sp>
        <p:nvSpPr>
          <p:cNvPr name="Freeform 28" id="28"/>
          <p:cNvSpPr/>
          <p:nvPr/>
        </p:nvSpPr>
        <p:spPr>
          <a:xfrm>
            <a:off x="3583041" y="5182488"/>
            <a:ext cx="121383" cy="2528901"/>
          </a:xfrm>
          <a:custGeom>
            <a:avLst/>
            <a:gdLst/>
            <a:ahLst/>
            <a:cxnLst/>
            <a:rect r="r" b="b" t="t" l="l"/>
            <a:pathLst>
              <a:path h="2528901" w="121383">
                <a:moveTo>
                  <a:pt x="121382" y="0"/>
                </a:moveTo>
                <a:lnTo>
                  <a:pt x="60691" y="0"/>
                </a:lnTo>
                <a:cubicBezTo>
                  <a:pt x="27172" y="0"/>
                  <a:pt x="0" y="27172"/>
                  <a:pt x="0" y="60691"/>
                </a:cubicBezTo>
                <a:lnTo>
                  <a:pt x="0" y="2528900"/>
                </a:lnTo>
              </a:path>
            </a:pathLst>
          </a:custGeom>
          <a:ln cap="flat" w="38100">
            <a:solidFill>
              <a:srgbClr val="FF3131">
                <a:alpha val="67843"/>
              </a:srgbClr>
            </a:solidFill>
            <a:prstDash val="solid"/>
            <a:headEnd type="none" len="sm" w="sm"/>
            <a:tailEnd type="none" len="sm" w="sm"/>
          </a:ln>
        </p:spPr>
      </p:sp>
      <p:sp>
        <p:nvSpPr>
          <p:cNvPr name="AutoShape 29" id="29"/>
          <p:cNvSpPr/>
          <p:nvPr/>
        </p:nvSpPr>
        <p:spPr>
          <a:xfrm>
            <a:off x="5379711" y="7613212"/>
            <a:ext cx="350962" cy="0"/>
          </a:xfrm>
          <a:prstGeom prst="line">
            <a:avLst/>
          </a:prstGeom>
          <a:ln cap="flat" w="38100">
            <a:solidFill>
              <a:srgbClr val="FF3131">
                <a:alpha val="67843"/>
              </a:srgbClr>
            </a:solidFill>
            <a:prstDash val="solid"/>
            <a:headEnd type="none" len="sm" w="sm"/>
            <a:tailEnd type="none" len="sm" w="sm"/>
          </a:ln>
        </p:spPr>
      </p:sp>
      <p:sp>
        <p:nvSpPr>
          <p:cNvPr name="AutoShape 30" id="30"/>
          <p:cNvSpPr/>
          <p:nvPr/>
        </p:nvSpPr>
        <p:spPr>
          <a:xfrm flipV="true">
            <a:off x="5722296" y="7596047"/>
            <a:ext cx="8376" cy="366540"/>
          </a:xfrm>
          <a:prstGeom prst="line">
            <a:avLst/>
          </a:prstGeom>
          <a:ln cap="flat" w="38100">
            <a:solidFill>
              <a:srgbClr val="FF3131">
                <a:alpha val="67843"/>
              </a:srgbClr>
            </a:solidFill>
            <a:prstDash val="solid"/>
            <a:headEnd type="none" len="sm" w="sm"/>
            <a:tailEnd type="none" len="sm" w="sm"/>
          </a:ln>
        </p:spPr>
      </p:sp>
      <p:sp>
        <p:nvSpPr>
          <p:cNvPr name="AutoShape 31" id="31"/>
          <p:cNvSpPr/>
          <p:nvPr/>
        </p:nvSpPr>
        <p:spPr>
          <a:xfrm flipH="true" flipV="true">
            <a:off x="5388087" y="7596047"/>
            <a:ext cx="0" cy="366540"/>
          </a:xfrm>
          <a:prstGeom prst="line">
            <a:avLst/>
          </a:prstGeom>
          <a:ln cap="flat" w="38100">
            <a:solidFill>
              <a:srgbClr val="FF3131">
                <a:alpha val="67843"/>
              </a:srgbClr>
            </a:solidFill>
            <a:prstDash val="solid"/>
            <a:headEnd type="none" len="sm" w="sm"/>
            <a:tailEnd type="none" len="sm" w="sm"/>
          </a:ln>
        </p:spPr>
      </p:sp>
      <p:sp>
        <p:nvSpPr>
          <p:cNvPr name="AutoShape 32" id="32"/>
          <p:cNvSpPr/>
          <p:nvPr/>
        </p:nvSpPr>
        <p:spPr>
          <a:xfrm>
            <a:off x="5379711" y="7943407"/>
            <a:ext cx="350962" cy="0"/>
          </a:xfrm>
          <a:prstGeom prst="line">
            <a:avLst/>
          </a:prstGeom>
          <a:ln cap="flat" w="38100">
            <a:solidFill>
              <a:srgbClr val="FF3131">
                <a:alpha val="67843"/>
              </a:srgbClr>
            </a:solidFill>
            <a:prstDash val="solid"/>
            <a:headEnd type="none" len="sm" w="sm"/>
            <a:tailEnd type="none" len="sm" w="sm"/>
          </a:ln>
        </p:spPr>
      </p:sp>
      <p:sp>
        <p:nvSpPr>
          <p:cNvPr name="Freeform 33" id="33"/>
          <p:cNvSpPr/>
          <p:nvPr/>
        </p:nvSpPr>
        <p:spPr>
          <a:xfrm>
            <a:off x="3613183" y="7668282"/>
            <a:ext cx="1774904" cy="290092"/>
          </a:xfrm>
          <a:custGeom>
            <a:avLst/>
            <a:gdLst/>
            <a:ahLst/>
            <a:cxnLst/>
            <a:rect r="r" b="b" t="t" l="l"/>
            <a:pathLst>
              <a:path h="290092" w="1774904">
                <a:moveTo>
                  <a:pt x="1774904" y="0"/>
                </a:moveTo>
                <a:lnTo>
                  <a:pt x="927845" y="0"/>
                </a:lnTo>
                <a:cubicBezTo>
                  <a:pt x="889376" y="0"/>
                  <a:pt x="852483" y="15282"/>
                  <a:pt x="825282" y="42483"/>
                </a:cubicBezTo>
                <a:cubicBezTo>
                  <a:pt x="798080" y="69684"/>
                  <a:pt x="782799" y="106578"/>
                  <a:pt x="782799" y="145047"/>
                </a:cubicBezTo>
                <a:lnTo>
                  <a:pt x="782799" y="145047"/>
                </a:lnTo>
                <a:cubicBezTo>
                  <a:pt x="782799" y="183515"/>
                  <a:pt x="767517" y="220409"/>
                  <a:pt x="740316" y="247610"/>
                </a:cubicBezTo>
                <a:cubicBezTo>
                  <a:pt x="713114" y="274811"/>
                  <a:pt x="676221" y="290093"/>
                  <a:pt x="637752" y="290093"/>
                </a:cubicBezTo>
                <a:lnTo>
                  <a:pt x="0" y="290093"/>
                </a:lnTo>
              </a:path>
            </a:pathLst>
          </a:custGeom>
          <a:ln cap="flat" w="38100">
            <a:solidFill>
              <a:srgbClr val="FF3131">
                <a:alpha val="67843"/>
              </a:srgbClr>
            </a:solidFill>
            <a:prstDash val="solid"/>
            <a:headEnd type="none" len="sm" w="sm"/>
            <a:tailEnd type="none" len="sm" w="sm"/>
          </a:ln>
        </p:spPr>
      </p:sp>
      <p:sp>
        <p:nvSpPr>
          <p:cNvPr name="AutoShape 34" id="34"/>
          <p:cNvSpPr/>
          <p:nvPr/>
        </p:nvSpPr>
        <p:spPr>
          <a:xfrm>
            <a:off x="5470951" y="6206931"/>
            <a:ext cx="350962" cy="0"/>
          </a:xfrm>
          <a:prstGeom prst="line">
            <a:avLst/>
          </a:prstGeom>
          <a:ln cap="flat" w="38100">
            <a:solidFill>
              <a:srgbClr val="FF3131">
                <a:alpha val="67843"/>
              </a:srgbClr>
            </a:solidFill>
            <a:prstDash val="solid"/>
            <a:headEnd type="none" len="sm" w="sm"/>
            <a:tailEnd type="none" len="sm" w="sm"/>
          </a:ln>
        </p:spPr>
      </p:sp>
      <p:sp>
        <p:nvSpPr>
          <p:cNvPr name="AutoShape 35" id="35"/>
          <p:cNvSpPr/>
          <p:nvPr/>
        </p:nvSpPr>
        <p:spPr>
          <a:xfrm flipV="true">
            <a:off x="5813537" y="6189766"/>
            <a:ext cx="8376" cy="366540"/>
          </a:xfrm>
          <a:prstGeom prst="line">
            <a:avLst/>
          </a:prstGeom>
          <a:ln cap="flat" w="38100">
            <a:solidFill>
              <a:srgbClr val="FF3131">
                <a:alpha val="67843"/>
              </a:srgbClr>
            </a:solidFill>
            <a:prstDash val="solid"/>
            <a:headEnd type="none" len="sm" w="sm"/>
            <a:tailEnd type="none" len="sm" w="sm"/>
          </a:ln>
        </p:spPr>
      </p:sp>
      <p:sp>
        <p:nvSpPr>
          <p:cNvPr name="AutoShape 36" id="36"/>
          <p:cNvSpPr/>
          <p:nvPr/>
        </p:nvSpPr>
        <p:spPr>
          <a:xfrm flipH="true" flipV="true">
            <a:off x="5479328" y="6189766"/>
            <a:ext cx="0" cy="366540"/>
          </a:xfrm>
          <a:prstGeom prst="line">
            <a:avLst/>
          </a:prstGeom>
          <a:ln cap="flat" w="38100">
            <a:solidFill>
              <a:srgbClr val="FF3131">
                <a:alpha val="67843"/>
              </a:srgbClr>
            </a:solidFill>
            <a:prstDash val="solid"/>
            <a:headEnd type="none" len="sm" w="sm"/>
            <a:tailEnd type="none" len="sm" w="sm"/>
          </a:ln>
        </p:spPr>
      </p:sp>
      <p:sp>
        <p:nvSpPr>
          <p:cNvPr name="AutoShape 37" id="37"/>
          <p:cNvSpPr/>
          <p:nvPr/>
        </p:nvSpPr>
        <p:spPr>
          <a:xfrm>
            <a:off x="5470951" y="6537126"/>
            <a:ext cx="350962" cy="0"/>
          </a:xfrm>
          <a:prstGeom prst="line">
            <a:avLst/>
          </a:prstGeom>
          <a:ln cap="flat" w="38100">
            <a:solidFill>
              <a:srgbClr val="FF3131">
                <a:alpha val="67843"/>
              </a:srgbClr>
            </a:solidFill>
            <a:prstDash val="solid"/>
            <a:headEnd type="none" len="sm" w="sm"/>
            <a:tailEnd type="none" len="sm" w="sm"/>
          </a:ln>
        </p:spPr>
      </p:sp>
      <p:sp>
        <p:nvSpPr>
          <p:cNvPr name="Freeform 38" id="38"/>
          <p:cNvSpPr/>
          <p:nvPr/>
        </p:nvSpPr>
        <p:spPr>
          <a:xfrm>
            <a:off x="5600744" y="6556177"/>
            <a:ext cx="141" cy="1056905"/>
          </a:xfrm>
          <a:custGeom>
            <a:avLst/>
            <a:gdLst/>
            <a:ahLst/>
            <a:cxnLst/>
            <a:rect r="r" b="b" t="t" l="l"/>
            <a:pathLst>
              <a:path h="1056905" w="141">
                <a:moveTo>
                  <a:pt x="141" y="0"/>
                </a:moveTo>
                <a:lnTo>
                  <a:pt x="70" y="0"/>
                </a:lnTo>
                <a:cubicBezTo>
                  <a:pt x="32" y="0"/>
                  <a:pt x="0" y="31"/>
                  <a:pt x="0" y="70"/>
                </a:cubicBezTo>
                <a:lnTo>
                  <a:pt x="0" y="861956"/>
                </a:lnTo>
                <a:cubicBezTo>
                  <a:pt x="0" y="861975"/>
                  <a:pt x="7" y="861993"/>
                  <a:pt x="20" y="862006"/>
                </a:cubicBezTo>
                <a:cubicBezTo>
                  <a:pt x="34" y="862019"/>
                  <a:pt x="52" y="862027"/>
                  <a:pt x="70" y="862027"/>
                </a:cubicBezTo>
                <a:lnTo>
                  <a:pt x="70" y="862027"/>
                </a:lnTo>
                <a:cubicBezTo>
                  <a:pt x="109" y="862027"/>
                  <a:pt x="141" y="862059"/>
                  <a:pt x="141" y="862097"/>
                </a:cubicBezTo>
                <a:lnTo>
                  <a:pt x="141" y="1056905"/>
                </a:lnTo>
              </a:path>
            </a:pathLst>
          </a:custGeom>
          <a:ln cap="flat" w="38100">
            <a:solidFill>
              <a:srgbClr val="FF3131">
                <a:alpha val="67843"/>
              </a:srgbClr>
            </a:solidFill>
            <a:prstDash val="solid"/>
            <a:headEnd type="none" len="sm" w="sm"/>
            <a:tailEnd type="none" len="sm" w="sm"/>
          </a:ln>
        </p:spPr>
      </p:sp>
      <p:sp>
        <p:nvSpPr>
          <p:cNvPr name="AutoShape 39" id="39"/>
          <p:cNvSpPr/>
          <p:nvPr/>
        </p:nvSpPr>
        <p:spPr>
          <a:xfrm>
            <a:off x="7783423" y="6726073"/>
            <a:ext cx="498509" cy="0"/>
          </a:xfrm>
          <a:prstGeom prst="line">
            <a:avLst/>
          </a:prstGeom>
          <a:ln cap="flat" w="38100">
            <a:solidFill>
              <a:srgbClr val="FF3131">
                <a:alpha val="67843"/>
              </a:srgbClr>
            </a:solidFill>
            <a:prstDash val="solid"/>
            <a:headEnd type="none" len="sm" w="sm"/>
            <a:tailEnd type="none" len="sm" w="sm"/>
          </a:ln>
        </p:spPr>
      </p:sp>
      <p:sp>
        <p:nvSpPr>
          <p:cNvPr name="AutoShape 40" id="40"/>
          <p:cNvSpPr/>
          <p:nvPr/>
        </p:nvSpPr>
        <p:spPr>
          <a:xfrm flipV="true">
            <a:off x="8270034" y="6713142"/>
            <a:ext cx="11898" cy="276122"/>
          </a:xfrm>
          <a:prstGeom prst="line">
            <a:avLst/>
          </a:prstGeom>
          <a:ln cap="flat" w="38100">
            <a:solidFill>
              <a:srgbClr val="FF3131">
                <a:alpha val="67843"/>
              </a:srgbClr>
            </a:solidFill>
            <a:prstDash val="solid"/>
            <a:headEnd type="none" len="sm" w="sm"/>
            <a:tailEnd type="none" len="sm" w="sm"/>
          </a:ln>
        </p:spPr>
      </p:sp>
      <p:sp>
        <p:nvSpPr>
          <p:cNvPr name="AutoShape 41" id="41"/>
          <p:cNvSpPr/>
          <p:nvPr/>
        </p:nvSpPr>
        <p:spPr>
          <a:xfrm flipV="true">
            <a:off x="7795321" y="6713142"/>
            <a:ext cx="0" cy="276122"/>
          </a:xfrm>
          <a:prstGeom prst="line">
            <a:avLst/>
          </a:prstGeom>
          <a:ln cap="flat" w="38100">
            <a:solidFill>
              <a:srgbClr val="FF3131">
                <a:alpha val="67843"/>
              </a:srgbClr>
            </a:solidFill>
            <a:prstDash val="solid"/>
            <a:headEnd type="none" len="sm" w="sm"/>
            <a:tailEnd type="none" len="sm" w="sm"/>
          </a:ln>
        </p:spPr>
      </p:sp>
      <p:sp>
        <p:nvSpPr>
          <p:cNvPr name="AutoShape 42" id="42"/>
          <p:cNvSpPr/>
          <p:nvPr/>
        </p:nvSpPr>
        <p:spPr>
          <a:xfrm>
            <a:off x="7783423" y="6974815"/>
            <a:ext cx="498509" cy="0"/>
          </a:xfrm>
          <a:prstGeom prst="line">
            <a:avLst/>
          </a:prstGeom>
          <a:ln cap="flat" w="38100">
            <a:solidFill>
              <a:srgbClr val="FF3131">
                <a:alpha val="67843"/>
              </a:srgbClr>
            </a:solidFill>
            <a:prstDash val="solid"/>
            <a:headEnd type="none" len="sm" w="sm"/>
            <a:tailEnd type="none" len="sm" w="sm"/>
          </a:ln>
        </p:spPr>
      </p:sp>
      <p:sp>
        <p:nvSpPr>
          <p:cNvPr name="Freeform 43" id="43"/>
          <p:cNvSpPr/>
          <p:nvPr/>
        </p:nvSpPr>
        <p:spPr>
          <a:xfrm>
            <a:off x="5821913" y="6351977"/>
            <a:ext cx="1973408" cy="499226"/>
          </a:xfrm>
          <a:custGeom>
            <a:avLst/>
            <a:gdLst/>
            <a:ahLst/>
            <a:cxnLst/>
            <a:rect r="r" b="b" t="t" l="l"/>
            <a:pathLst>
              <a:path h="499226" w="1973408">
                <a:moveTo>
                  <a:pt x="1973408" y="499226"/>
                </a:moveTo>
                <a:lnTo>
                  <a:pt x="778675" y="499226"/>
                </a:lnTo>
                <a:cubicBezTo>
                  <a:pt x="718046" y="499226"/>
                  <a:pt x="659901" y="475141"/>
                  <a:pt x="617030" y="432270"/>
                </a:cubicBezTo>
                <a:cubicBezTo>
                  <a:pt x="574159" y="389400"/>
                  <a:pt x="550074" y="331255"/>
                  <a:pt x="550074" y="270626"/>
                </a:cubicBezTo>
                <a:lnTo>
                  <a:pt x="550074" y="228600"/>
                </a:lnTo>
                <a:cubicBezTo>
                  <a:pt x="550074" y="167972"/>
                  <a:pt x="525990" y="109826"/>
                  <a:pt x="483119" y="66955"/>
                </a:cubicBezTo>
                <a:cubicBezTo>
                  <a:pt x="440248" y="24085"/>
                  <a:pt x="382103" y="0"/>
                  <a:pt x="321474" y="0"/>
                </a:cubicBezTo>
                <a:lnTo>
                  <a:pt x="0" y="0"/>
                </a:lnTo>
              </a:path>
            </a:pathLst>
          </a:custGeom>
          <a:ln cap="flat" w="38100">
            <a:solidFill>
              <a:srgbClr val="FF3131">
                <a:alpha val="67843"/>
              </a:srgbClr>
            </a:solidFill>
            <a:prstDash val="solid"/>
            <a:headEnd type="none" len="sm" w="sm"/>
            <a:tailEnd type="none" len="sm" w="sm"/>
          </a:ln>
        </p:spPr>
      </p:sp>
      <p:sp>
        <p:nvSpPr>
          <p:cNvPr name="TextBox 44" id="44"/>
          <p:cNvSpPr txBox="true"/>
          <p:nvPr/>
        </p:nvSpPr>
        <p:spPr>
          <a:xfrm rot="0">
            <a:off x="10191623" y="2215316"/>
            <a:ext cx="7298338" cy="7052310"/>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Rough outline / Wireframe approach</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Helps illustrate intended layout</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Demonstrates user flow through the “patient” end of the application</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Aids in identifying flaws and drawbacks of the system(s) being conceptualized</a:t>
            </a:r>
          </a:p>
          <a:p>
            <a:pPr algn="l">
              <a:lnSpc>
                <a:spcPts val="2939"/>
              </a:lnSpc>
            </a:pPr>
          </a:p>
          <a:p>
            <a:pPr algn="l">
              <a:lnSpc>
                <a:spcPts val="2939"/>
              </a:lnSpc>
            </a:pPr>
            <a:r>
              <a:rPr lang="en-US" sz="2099" b="true">
                <a:solidFill>
                  <a:srgbClr val="000000"/>
                </a:solidFill>
                <a:latin typeface="Garet Bold"/>
                <a:ea typeface="Garet Bold"/>
                <a:cs typeface="Garet Bold"/>
                <a:sym typeface="Garet Bold"/>
              </a:rPr>
              <a:t>Drawbacks:</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Lack any mention of time of day</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Search, Home, and Add bar is inneffiecint and needs to be reworked</a:t>
            </a:r>
          </a:p>
          <a:p>
            <a:pPr algn="l">
              <a:lnSpc>
                <a:spcPts val="2939"/>
              </a:lnSpc>
            </a:pPr>
          </a:p>
          <a:p>
            <a:pPr algn="l" marL="453388" indent="-226694" lvl="1">
              <a:lnSpc>
                <a:spcPts val="2939"/>
              </a:lnSpc>
              <a:buFont typeface="Arial"/>
              <a:buChar char="•"/>
            </a:pPr>
            <a:r>
              <a:rPr lang="en-US" sz="2099">
                <a:solidFill>
                  <a:srgbClr val="000000"/>
                </a:solidFill>
                <a:latin typeface="Garet"/>
                <a:ea typeface="Garet"/>
                <a:cs typeface="Garet"/>
                <a:sym typeface="Garet"/>
              </a:rPr>
              <a:t>More descriptive language would suit first time users much better</a:t>
            </a:r>
          </a:p>
        </p:txBody>
      </p:sp>
      <p:sp>
        <p:nvSpPr>
          <p:cNvPr name="TextBox 45" id="45"/>
          <p:cNvSpPr txBox="true"/>
          <p:nvPr/>
        </p:nvSpPr>
        <p:spPr>
          <a:xfrm rot="0">
            <a:off x="10114731" y="945228"/>
            <a:ext cx="7279037"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Prototype</a:t>
            </a:r>
          </a:p>
        </p:txBody>
      </p:sp>
    </p:spTree>
  </p:cSld>
  <p:clrMapOvr>
    <a:masterClrMapping/>
  </p:clrMapOvr>
  <p:transition spd="slow">
    <p:cover dir="ru"/>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5898197" y="278338"/>
            <a:ext cx="12220187" cy="9730324"/>
          </a:xfrm>
          <a:custGeom>
            <a:avLst/>
            <a:gdLst/>
            <a:ahLst/>
            <a:cxnLst/>
            <a:rect r="r" b="b" t="t" l="l"/>
            <a:pathLst>
              <a:path h="9730324" w="12220187">
                <a:moveTo>
                  <a:pt x="0" y="0"/>
                </a:moveTo>
                <a:lnTo>
                  <a:pt x="12220187" y="0"/>
                </a:lnTo>
                <a:lnTo>
                  <a:pt x="12220187" y="9730324"/>
                </a:lnTo>
                <a:lnTo>
                  <a:pt x="0" y="9730324"/>
                </a:lnTo>
                <a:lnTo>
                  <a:pt x="0" y="0"/>
                </a:lnTo>
                <a:close/>
              </a:path>
            </a:pathLst>
          </a:custGeom>
          <a:blipFill>
            <a:blip r:embed="rId3"/>
            <a:stretch>
              <a:fillRect l="0" t="0" r="0" b="0"/>
            </a:stretch>
          </a:blipFill>
        </p:spPr>
      </p:sp>
      <p:sp>
        <p:nvSpPr>
          <p:cNvPr name="TextBox 4" id="4"/>
          <p:cNvSpPr txBox="true"/>
          <p:nvPr/>
        </p:nvSpPr>
        <p:spPr>
          <a:xfrm rot="0">
            <a:off x="615386" y="1009650"/>
            <a:ext cx="4953427" cy="2305050"/>
          </a:xfrm>
          <a:prstGeom prst="rect">
            <a:avLst/>
          </a:prstGeom>
        </p:spPr>
        <p:txBody>
          <a:bodyPr anchor="t" rtlCol="false" tIns="0" lIns="0" bIns="0" rIns="0">
            <a:spAutoFit/>
          </a:bodyPr>
          <a:lstStyle/>
          <a:p>
            <a:pPr algn="l">
              <a:lnSpc>
                <a:spcPts val="9000"/>
              </a:lnSpc>
            </a:pPr>
            <a:r>
              <a:rPr lang="en-US" sz="7500">
                <a:solidFill>
                  <a:srgbClr val="000000"/>
                </a:solidFill>
                <a:latin typeface="Archivo Black"/>
                <a:ea typeface="Archivo Black"/>
                <a:cs typeface="Archivo Black"/>
                <a:sym typeface="Archivo Black"/>
              </a:rPr>
              <a:t>Final</a:t>
            </a:r>
          </a:p>
          <a:p>
            <a:pPr algn="l">
              <a:lnSpc>
                <a:spcPts val="9000"/>
              </a:lnSpc>
            </a:pPr>
            <a:r>
              <a:rPr lang="en-US" sz="7500">
                <a:solidFill>
                  <a:srgbClr val="000000"/>
                </a:solidFill>
                <a:latin typeface="Archivo Black"/>
                <a:ea typeface="Archivo Black"/>
                <a:cs typeface="Archivo Black"/>
                <a:sym typeface="Archivo Black"/>
              </a:rPr>
              <a:t>Renders</a:t>
            </a:r>
          </a:p>
        </p:txBody>
      </p:sp>
    </p:spTree>
  </p:cSld>
  <p:clrMapOvr>
    <a:masterClrMapping/>
  </p:clrMapOvr>
  <p:transition spd="slow">
    <p:cover dir="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DAHIQXh-1QY</dc:identifier>
  <dcterms:modified xsi:type="dcterms:W3CDTF">2011-08-01T06:04:30Z</dcterms:modified>
  <cp:revision>1</cp:revision>
  <dc:title>MCLANE_Stevie_ADES-1543-E-O-S-Pres</dc:title>
</cp:coreProperties>
</file>